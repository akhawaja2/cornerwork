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e4bed0fd8b4aab" /><Relationship Type="http://schemas.openxmlformats.org/officeDocument/2006/relationships/extended-properties" Target="/docProps/app.xml" Id="R581cdff5210a443b" /><Relationship Type="http://schemas.openxmlformats.org/officeDocument/2006/relationships/officeDocument" Target="/ppt/presentation.xml" Id="Rc32fbd24c74b4b1b" /></Relationships>
</file>

<file path=ppt/presentation.xml><?xml version="1.0" encoding="utf-8"?>
<p:presentation xmlns:p="http://schemas.openxmlformats.org/presentationml/2006/main">
  <p:sldMasterIdLst>
    <p:sldMasterId xmlns:r="http://schemas.openxmlformats.org/officeDocument/2006/relationships" id="2147483648" r:id="R74b2c58a34d6420d"/>
  </p:sldMasterIdLst>
  <p:notesMasterIdLst>
    <p:notesMasterId xmlns:r="http://schemas.openxmlformats.org/officeDocument/2006/relationships" r:id="R69aa872bb6da4579"/>
  </p:notesMasterIdLst>
  <p:sldIdLst>
    <p:sldId xmlns:r="http://schemas.openxmlformats.org/officeDocument/2006/relationships" id="256" r:id="Ra0d366ac99c14d9a"/>
    <p:sldId xmlns:r="http://schemas.openxmlformats.org/officeDocument/2006/relationships" id="257" r:id="R5ace08d391c34346"/>
    <p:sldId xmlns:r="http://schemas.openxmlformats.org/officeDocument/2006/relationships" id="258" r:id="Rd0301941770345a8"/>
    <p:sldId xmlns:r="http://schemas.openxmlformats.org/officeDocument/2006/relationships" id="259" r:id="R9d0e14146005463b"/>
    <p:sldId xmlns:r="http://schemas.openxmlformats.org/officeDocument/2006/relationships" id="260" r:id="R3449b4040a1f494c"/>
    <p:sldId xmlns:r="http://schemas.openxmlformats.org/officeDocument/2006/relationships" id="261" r:id="R9f4e54d5ebeb4c13"/>
    <p:sldId xmlns:r="http://schemas.openxmlformats.org/officeDocument/2006/relationships" id="262" r:id="R6a38f51785604770"/>
    <p:sldId xmlns:r="http://schemas.openxmlformats.org/officeDocument/2006/relationships" id="263" r:id="Ra3b9e389ecd449df"/>
    <p:sldId xmlns:r="http://schemas.openxmlformats.org/officeDocument/2006/relationships" id="264" r:id="R7e8e2680eb7943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67184d40894925" /><Relationship Type="http://schemas.openxmlformats.org/officeDocument/2006/relationships/slideMaster" Target="/ppt/slideMasters/slideMaster1.xml" Id="R74b2c58a34d6420d" /><Relationship Type="http://schemas.openxmlformats.org/officeDocument/2006/relationships/notesMaster" Target="/ppt/notesMasters/notesMaster1.xml" Id="R69aa872bb6da4579" /><Relationship Type="http://schemas.openxmlformats.org/officeDocument/2006/relationships/presProps" Target="/ppt/presProps.xml" Id="R35b2514268074123" /><Relationship Type="http://schemas.openxmlformats.org/officeDocument/2006/relationships/tableStyles" Target="/ppt/tableStyles.xml" Id="Re19de2cfbf164f05" /><Relationship Type="http://schemas.openxmlformats.org/officeDocument/2006/relationships/slide" Target="/ppt/slides/slide1.xml" Id="Ra0d366ac99c14d9a" /><Relationship Type="http://schemas.openxmlformats.org/officeDocument/2006/relationships/slide" Target="/ppt/slides/slide2.xml" Id="R5ace08d391c34346" /><Relationship Type="http://schemas.openxmlformats.org/officeDocument/2006/relationships/slide" Target="/ppt/slides/slide3.xml" Id="Rd0301941770345a8" /><Relationship Type="http://schemas.openxmlformats.org/officeDocument/2006/relationships/slide" Target="/ppt/slides/slide4.xml" Id="R9d0e14146005463b" /><Relationship Type="http://schemas.openxmlformats.org/officeDocument/2006/relationships/slide" Target="/ppt/slides/slide5.xml" Id="R3449b4040a1f494c" /><Relationship Type="http://schemas.openxmlformats.org/officeDocument/2006/relationships/slide" Target="/ppt/slides/slide6.xml" Id="R9f4e54d5ebeb4c13" /><Relationship Type="http://schemas.openxmlformats.org/officeDocument/2006/relationships/slide" Target="/ppt/slides/slide7.xml" Id="R6a38f51785604770" /><Relationship Type="http://schemas.openxmlformats.org/officeDocument/2006/relationships/slide" Target="/ppt/slides/slide8.xml" Id="Ra3b9e389ecd449df" /><Relationship Type="http://schemas.openxmlformats.org/officeDocument/2006/relationships/slide" Target="/ppt/slides/slide9.xml" Id="R7e8e2680eb7943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c917b9532249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e975eb82f1412a" /><Relationship Type="http://schemas.openxmlformats.org/officeDocument/2006/relationships/notesMaster" Target="/ppt/notesMasters/notesMaster1.xml" Id="R3a467c3d98b34b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4d004841904493" /><Relationship Type="http://schemas.openxmlformats.org/officeDocument/2006/relationships/notesMaster" Target="/ppt/notesMasters/notesMaster1.xml" Id="R477fe80eafeb4c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1438f71a94bf5" /><Relationship Type="http://schemas.openxmlformats.org/officeDocument/2006/relationships/notesMaster" Target="/ppt/notesMasters/notesMaster1.xml" Id="R65f19dd8215548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2eb242d0e44c18" /><Relationship Type="http://schemas.openxmlformats.org/officeDocument/2006/relationships/notesMaster" Target="/ppt/notesMasters/notesMaster1.xml" Id="Rc6d6a4064eb74a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e925d56730414e" /><Relationship Type="http://schemas.openxmlformats.org/officeDocument/2006/relationships/notesMaster" Target="/ppt/notesMasters/notesMaster1.xml" Id="R9b179cc01ccd4e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45af82162c4af1" /><Relationship Type="http://schemas.openxmlformats.org/officeDocument/2006/relationships/notesMaster" Target="/ppt/notesMasters/notesMaster1.xml" Id="Ra3aa2361c02f4a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079285b79b40c6" /><Relationship Type="http://schemas.openxmlformats.org/officeDocument/2006/relationships/notesMaster" Target="/ppt/notesMasters/notesMaster1.xml" Id="R9440d3b21a3a4a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6bf6fd7aa7476f" /><Relationship Type="http://schemas.openxmlformats.org/officeDocument/2006/relationships/notesMaster" Target="/ppt/notesMasters/notesMaster1.xml" Id="R2ec20f138b804b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5d9c3ae7314135" /><Relationship Type="http://schemas.openxmlformats.org/officeDocument/2006/relationships/notesMaster" Target="/ppt/notesMasters/notesMaster1.xml" Id="Re045f345234c41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This is a local prototype of a class-to-class coaching loop. All athletes are fictional. Messages stay on this computer. We want to learn whether this fits how your coaches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intended flow before opening the app. The attendance connection, actual messages and audio are not live. The inbox, stored responses and class brief are working local features. Anonymous dashboard omitted by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Demo tools, After class, Run due jobs. Current scheduler uses stored bookings or attendance and an explicit job clock; it is not attendance-only. Target integration must verify attendance and class end, suppress no-shows/cancellations and deduplicate. The quoted nudge is illustrative, not a claim about exact current message wording. Confirm Gymdesk Check-In payload and class-end lookup before promising automation.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Demo tools select Maya Chen, choose Voice note — typed transcript simulation, and enter: My jab felt sharper, but I keep getting countered as I step out. What should I focus on next class? Send into demo. A supplied transcript stands in for audio; there is no microphone or transcription service. This example is fictional and not a customer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Coach inbox. Find the newly submitted log, expand the original, write a short reply and send. Show its simulated conversation in Demo tools. Rules-based summaries are aids only; the human coach decides what to send. Screenshot is from the local app with fictional seed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Before class. Select the class the same athlete is booked into and refresh. Show their recent context, relevant flags and common themes. A new log does not enroll a member. The current brief uses recent logs from the last seven days and stored bookings, not live provider data. Shared clock and attendance connection are not implemented. Screenshot is actual local app, fictional athletes.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accessed 2026-09-28: https://docs.gymdesk.com/en/help/docs/zapier (Check-In trigger, Get Bookings/Get Attendance); https://developers.mindbodyonline.com/WebhooksDocumentation (class roster events and SignedIn status). These are candidate integration paths, not connected integrations. Verify permission, identifiers, class-end data, retries, cancellations and timezone behavior using a partner gym and test adults before any live member rollout. Mindbody sandbox API availability does not prove live webhook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clear scope boundary. Working locally: message intake, stored logs, coach queue and reply, computed class brief, explicit scheduled-job runner. Simulations: voice transcript, summaries and outbound messages. Before a live pilot: real attendance-only logic, SMS delivery and consent handling, actual audio intake/transcription, authentication and permission isolation, production scheduling and operational support. No retention lift or time-savings claims have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concrete example before pitching price: Tell me about the last member question that got lost after class. Who would own this queue? Would the next coach actually read the brief? Ask permission for a follow-up observation or a tightly scoped pilot; do not promise a start date or free period. If pricing comes up, $50–100 per gym per month is a hypothesis to test, not an approved offer. Optional $10 member resale needs its own demand and coach-labor test. Do not claim ten members means economic break-even.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62910eab0446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87407fe9064994" /><Relationship Type="http://schemas.openxmlformats.org/officeDocument/2006/relationships/slideLayout" Target="/ppt/slideLayouts/slideLayout1.xml" Id="R7cd03a0421404a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d03a0421404a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999ca3f19446c4" /><Relationship Type="http://schemas.openxmlformats.org/officeDocument/2006/relationships/notesSlide" Target="/ppt/notesSlides/notesSlide1.xml" Id="R0f8b0c5f62f44c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aa663cb9254be5" /><Relationship Type="http://schemas.openxmlformats.org/officeDocument/2006/relationships/notesSlide" Target="/ppt/notesSlides/notesSlide2.xml" Id="Rbdfdd391e5b14f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988345c6864a0f" /><Relationship Type="http://schemas.openxmlformats.org/officeDocument/2006/relationships/notesSlide" Target="/ppt/notesSlides/notesSlide3.xml" Id="Rc43f78fce52d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4f1e5994644244" /><Relationship Type="http://schemas.openxmlformats.org/officeDocument/2006/relationships/notesSlide" Target="/ppt/notesSlides/notesSlide4.xml" Id="R33f44150c76140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a88d2eaea5400c" /><Relationship Type="http://schemas.openxmlformats.org/officeDocument/2006/relationships/image" Target="/ppt/media/image.png" Id="R1571153ff5c842d2" /><Relationship Type="http://schemas.openxmlformats.org/officeDocument/2006/relationships/notesSlide" Target="/ppt/notesSlides/notesSlide5.xml" Id="R6947d0cbae6644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99c25251554233" /><Relationship Type="http://schemas.openxmlformats.org/officeDocument/2006/relationships/image" Target="/ppt/media/image2.png" Id="R13f1dcb171284b38" /><Relationship Type="http://schemas.openxmlformats.org/officeDocument/2006/relationships/notesSlide" Target="/ppt/notesSlides/notesSlide6.xml" Id="R134cdd6af58b44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b724325244481c" /><Relationship Type="http://schemas.openxmlformats.org/officeDocument/2006/relationships/notesSlide" Target="/ppt/notesSlides/notesSlide7.xml" Id="R03340be43c0f45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37969f45c54812" /><Relationship Type="http://schemas.openxmlformats.org/officeDocument/2006/relationships/notesSlide" Target="/ppt/notesSlides/notesSlide8.xml" Id="R1faf083d961141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e4b68390404632" /><Relationship Type="http://schemas.openxmlformats.org/officeDocument/2006/relationships/notesSlide" Target="/ppt/notesSlides/notesSlide9.xml" Id="Rfc372c3ff5ca4df5"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855C1B-3F97-4BCE-BACB-CB379B03BD71}"/>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DEMO</a:t>
            </a:r>
          </a:p>
        </p:txBody>
      </p:sp>
      <p:sp>
        <p:nvSpPr>
          <p:cNvPr id="2" name="">
            <a:extLst xmlns:a="http://schemas.openxmlformats.org/drawingml/2006/main">
              <a:ext uri="{FF2B5EF4-FFF2-40B4-BE49-F238E27FC236}">
                <a16:creationId xmlns:a16="http://schemas.microsoft.com/office/drawing/2014/main" id="{772D11D4-9073-474F-9685-D3E526743E8F}"/>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A CLASS-TO-CLASS COACHING DEMO</a:t>
            </a:r>
          </a:p>
        </p:txBody>
      </p:sp>
      <p:sp>
        <p:nvSpPr>
          <p:cNvPr id="3" name="">
            <a:extLst xmlns:a="http://schemas.openxmlformats.org/drawingml/2006/main">
              <a:ext uri="{FF2B5EF4-FFF2-40B4-BE49-F238E27FC236}">
                <a16:creationId xmlns:a16="http://schemas.microsoft.com/office/drawing/2014/main" id="{7280C3B2-6852-4809-AE55-617E8039E124}"/>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F29A3AF-F34B-4801-8623-CA7606502AA1}"/>
              </a:ext>
            </a:extLst>
          </p:cNvPr>
          <p:cNvSpPr>
            <a:spLocks xmlns:a="http://schemas.openxmlformats.org/drawingml/2006/main" noGrp="1"/>
          </p:cNvSpPr>
          <p:nvPr/>
        </p:nvSpPr>
        <p:spPr>
          <a:xfrm xmlns:a="http://schemas.openxmlformats.org/drawingml/2006/main">
            <a:off x="609600" y="1504950"/>
            <a:ext cx="107632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91D0C4"/>
                </a:solidFill>
                <a:latin typeface="Arial"/>
                <a:ea typeface="Arial"/>
                <a:cs typeface="Arial"/>
              </a:defRPr>
            </a:pPr>
            <a:r>
              <a:rPr sz="6600" b="1">
                <a:solidFill>
                  <a:srgbClr val="91D0C4"/>
                </a:solidFill>
                <a:latin typeface="Arial"/>
                <a:ea typeface="Arial"/>
                <a:cs typeface="Arial"/>
              </a:rPr>
              <a:t>Your coach,</a:t>
            </a:r>
          </a:p>
          <a:p xmlns:a="http://schemas.openxmlformats.org/drawingml/2006/main">
            <a:pPr>
              <a:defRPr sz="6600" b="1">
                <a:solidFill>
                  <a:srgbClr val="91D0C4"/>
                </a:solidFill>
                <a:latin typeface="Arial"/>
                <a:ea typeface="Arial"/>
                <a:cs typeface="Arial"/>
              </a:defRPr>
            </a:pPr>
            <a:r>
              <a:rPr sz="6600" b="1">
                <a:solidFill>
                  <a:srgbClr val="91D0C4"/>
                </a:solidFill>
                <a:latin typeface="Arial"/>
                <a:ea typeface="Arial"/>
                <a:cs typeface="Arial"/>
              </a:rPr>
              <a:t>between classes.</a:t>
            </a:r>
          </a:p>
        </p:txBody>
      </p:sp>
      <p:sp>
        <p:nvSpPr>
          <p:cNvPr id="5" name="">
            <a:extLst xmlns:a="http://schemas.openxmlformats.org/drawingml/2006/main">
              <a:ext uri="{FF2B5EF4-FFF2-40B4-BE49-F238E27FC236}">
                <a16:creationId xmlns:a16="http://schemas.microsoft.com/office/drawing/2014/main" id="{82D1BAC9-93BD-48B7-A1AF-0FDBCD87F24C}"/>
              </a:ext>
            </a:extLst>
          </p:cNvPr>
          <p:cNvSpPr>
            <a:spLocks xmlns:a="http://schemas.openxmlformats.org/drawingml/2006/main" noGrp="1"/>
          </p:cNvSpPr>
          <p:nvPr/>
        </p:nvSpPr>
        <p:spPr>
          <a:xfrm xmlns:a="http://schemas.openxmlformats.org/drawingml/2006/main">
            <a:off x="647700" y="42481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F1E9"/>
                </a:solidFill>
                <a:latin typeface="Arial"/>
                <a:ea typeface="Arial"/>
                <a:cs typeface="Arial"/>
              </a:defRPr>
            </a:pPr>
            <a:r>
              <a:rPr sz="2550" b="0">
                <a:solidFill>
                  <a:srgbClr val="F4F1E9"/>
                </a:solidFill>
                <a:latin typeface="Arial"/>
                <a:ea typeface="Arial"/>
                <a:cs typeface="Arial"/>
              </a:rPr>
              <a:t>A member speaks up. A coach responds.</a:t>
            </a:r>
          </a:p>
          <a:p xmlns:a="http://schemas.openxmlformats.org/drawingml/2006/main">
            <a:pPr>
              <a:defRPr sz="2550" b="0">
                <a:solidFill>
                  <a:srgbClr val="F4F1E9"/>
                </a:solidFill>
                <a:latin typeface="Arial"/>
                <a:ea typeface="Arial"/>
                <a:cs typeface="Arial"/>
              </a:defRPr>
            </a:pPr>
            <a:r>
              <a:rPr sz="2550" b="0">
                <a:solidFill>
                  <a:srgbClr val="F4F1E9"/>
                </a:solidFill>
                <a:latin typeface="Arial"/>
                <a:ea typeface="Arial"/>
                <a:cs typeface="Arial"/>
              </a:rPr>
              <a:t>The next class starts with context.</a:t>
            </a:r>
          </a:p>
        </p:txBody>
      </p:sp>
      <p:sp>
        <p:nvSpPr>
          <p:cNvPr id="6" name="">
            <a:extLst xmlns:a="http://schemas.openxmlformats.org/drawingml/2006/main">
              <a:ext uri="{FF2B5EF4-FFF2-40B4-BE49-F238E27FC236}">
                <a16:creationId xmlns:a16="http://schemas.microsoft.com/office/drawing/2014/main" id="{18D77CA7-F1C2-4915-97F7-5D92FD59292C}"/>
              </a:ext>
            </a:extLst>
          </p:cNvPr>
          <p:cNvSpPr>
            <a:spLocks xmlns:a="http://schemas.openxmlformats.org/drawingml/2006/main" noGrp="1"/>
          </p:cNvSpPr>
          <p:nvPr/>
        </p:nvSpPr>
        <p:spPr>
          <a:xfrm xmlns:a="http://schemas.openxmlformats.org/drawingml/2006/main">
            <a:off x="647700" y="57435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91D0C4"/>
                </a:solidFill>
                <a:latin typeface="Arial"/>
                <a:ea typeface="Arial"/>
                <a:cs typeface="Arial"/>
              </a:defRPr>
            </a:pPr>
            <a:r>
              <a:rPr sz="1275" b="1">
                <a:solidFill>
                  <a:srgbClr val="91D0C4"/>
                </a:solidFill>
                <a:latin typeface="Arial"/>
                <a:ea typeface="Arial"/>
                <a:cs typeface="Arial"/>
              </a:rPr>
              <a:t>LOCAL PROTOTYPE  ·  FICTIONAL ATHLETES</a:t>
            </a:r>
          </a:p>
        </p:txBody>
      </p:sp>
    </p:spTree>
    <p:extLst>
      <p:ext uri="{BB962C8B-B14F-4D97-AF65-F5344CB8AC3E}">
        <p14:creationId xmlns:p14="http://schemas.microsoft.com/office/powerpoint/2010/main" val="603978467"/>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971DD1A-B3AE-4274-A888-9FC4D2802C18}"/>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THE LOOP</a:t>
            </a:r>
          </a:p>
        </p:txBody>
      </p:sp>
      <p:sp>
        <p:nvSpPr>
          <p:cNvPr id="2" name="">
            <a:extLst xmlns:a="http://schemas.openxmlformats.org/drawingml/2006/main">
              <a:ext uri="{FF2B5EF4-FFF2-40B4-BE49-F238E27FC236}">
                <a16:creationId xmlns:a16="http://schemas.microsoft.com/office/drawing/2014/main" id="{10AD7B50-D8DA-423F-9648-22679BDE7943}"/>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One conversation carries into the next class.</a:t>
            </a:r>
          </a:p>
        </p:txBody>
      </p:sp>
      <p:sp>
        <p:nvSpPr>
          <p:cNvPr id="3" name="">
            <a:extLst xmlns:a="http://schemas.openxmlformats.org/drawingml/2006/main">
              <a:ext uri="{FF2B5EF4-FFF2-40B4-BE49-F238E27FC236}">
                <a16:creationId xmlns:a16="http://schemas.microsoft.com/office/drawing/2014/main" id="{A19927A8-212A-4D35-B104-4CE64013A252}"/>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855C807D-882E-4DDA-A936-BCFAE9538F4D}"/>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26CAA11-32D7-469F-887C-43B041DA838A}"/>
              </a:ext>
            </a:extLst>
          </p:cNvPr>
          <p:cNvSpPr>
            <a:spLocks xmlns:a="http://schemas.openxmlformats.org/drawingml/2006/main" noGrp="1"/>
          </p:cNvSpPr>
          <p:nvPr/>
        </p:nvSpPr>
        <p:spPr>
          <a:xfrm xmlns:a="http://schemas.openxmlformats.org/drawingml/2006/main">
            <a:off x="609600" y="23336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61926E3-AF3C-46EE-821E-672370C456AA}"/>
              </a:ext>
            </a:extLst>
          </p:cNvPr>
          <p:cNvSpPr>
            <a:spLocks xmlns:a="http://schemas.openxmlformats.org/drawingml/2006/main" noGrp="1"/>
          </p:cNvSpPr>
          <p:nvPr/>
        </p:nvSpPr>
        <p:spPr>
          <a:xfrm xmlns:a="http://schemas.openxmlformats.org/drawingml/2006/main">
            <a:off x="1600200" y="23336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Attend class</a:t>
            </a:r>
          </a:p>
        </p:txBody>
      </p:sp>
      <p:sp>
        <p:nvSpPr>
          <p:cNvPr id="7" name="">
            <a:extLst xmlns:a="http://schemas.openxmlformats.org/drawingml/2006/main">
              <a:ext uri="{FF2B5EF4-FFF2-40B4-BE49-F238E27FC236}">
                <a16:creationId xmlns:a16="http://schemas.microsoft.com/office/drawing/2014/main" id="{3C93B095-7DAA-412E-B61C-A82AA83B2038}"/>
              </a:ext>
            </a:extLst>
          </p:cNvPr>
          <p:cNvSpPr>
            <a:spLocks xmlns:a="http://schemas.openxmlformats.org/drawingml/2006/main" noGrp="1"/>
          </p:cNvSpPr>
          <p:nvPr/>
        </p:nvSpPr>
        <p:spPr>
          <a:xfrm xmlns:a="http://schemas.openxmlformats.org/drawingml/2006/main">
            <a:off x="5410200" y="2381250"/>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A short follow-up after training.</a:t>
            </a:r>
          </a:p>
        </p:txBody>
      </p:sp>
      <p:sp>
        <p:nvSpPr>
          <p:cNvPr id="8" name="">
            <a:extLst xmlns:a="http://schemas.openxmlformats.org/drawingml/2006/main">
              <a:ext uri="{FF2B5EF4-FFF2-40B4-BE49-F238E27FC236}">
                <a16:creationId xmlns:a16="http://schemas.microsoft.com/office/drawing/2014/main" id="{703C0B8F-8F0F-494D-A03B-9F187314A1BF}"/>
              </a:ext>
            </a:extLst>
          </p:cNvPr>
          <p:cNvSpPr>
            <a:spLocks xmlns:a="http://schemas.openxmlformats.org/drawingml/2006/main" noGrp="1"/>
          </p:cNvSpPr>
          <p:nvPr/>
        </p:nvSpPr>
        <p:spPr>
          <a:xfrm xmlns:a="http://schemas.openxmlformats.org/drawingml/2006/main">
            <a:off x="609600" y="32004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59068E0-AB6B-4F59-AE4A-7F36E42744EA}"/>
              </a:ext>
            </a:extLst>
          </p:cNvPr>
          <p:cNvSpPr>
            <a:spLocks xmlns:a="http://schemas.openxmlformats.org/drawingml/2006/main" noGrp="1"/>
          </p:cNvSpPr>
          <p:nvPr/>
        </p:nvSpPr>
        <p:spPr>
          <a:xfrm xmlns:a="http://schemas.openxmlformats.org/drawingml/2006/main">
            <a:off x="1600200" y="32004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Ask the coach</a:t>
            </a:r>
          </a:p>
        </p:txBody>
      </p:sp>
      <p:sp>
        <p:nvSpPr>
          <p:cNvPr id="10" name="">
            <a:extLst xmlns:a="http://schemas.openxmlformats.org/drawingml/2006/main">
              <a:ext uri="{FF2B5EF4-FFF2-40B4-BE49-F238E27FC236}">
                <a16:creationId xmlns:a16="http://schemas.microsoft.com/office/drawing/2014/main" id="{2A52341B-AD72-4606-9FD4-329F7084868E}"/>
              </a:ext>
            </a:extLst>
          </p:cNvPr>
          <p:cNvSpPr>
            <a:spLocks xmlns:a="http://schemas.openxmlformats.org/drawingml/2006/main" noGrp="1"/>
          </p:cNvSpPr>
          <p:nvPr/>
        </p:nvSpPr>
        <p:spPr>
          <a:xfrm xmlns:a="http://schemas.openxmlformats.org/drawingml/2006/main">
            <a:off x="5410200" y="3248025"/>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Text or a voice note about what happened.</a:t>
            </a:r>
          </a:p>
        </p:txBody>
      </p:sp>
      <p:sp>
        <p:nvSpPr>
          <p:cNvPr id="11" name="">
            <a:extLst xmlns:a="http://schemas.openxmlformats.org/drawingml/2006/main">
              <a:ext uri="{FF2B5EF4-FFF2-40B4-BE49-F238E27FC236}">
                <a16:creationId xmlns:a16="http://schemas.microsoft.com/office/drawing/2014/main" id="{C86D878C-6F27-4371-8914-344EDDD9A146}"/>
              </a:ext>
            </a:extLst>
          </p:cNvPr>
          <p:cNvSpPr>
            <a:spLocks xmlns:a="http://schemas.openxmlformats.org/drawingml/2006/main" noGrp="1"/>
          </p:cNvSpPr>
          <p:nvPr/>
        </p:nvSpPr>
        <p:spPr>
          <a:xfrm xmlns:a="http://schemas.openxmlformats.org/drawingml/2006/main">
            <a:off x="609600" y="40671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CE346D4-398B-41C0-B14F-0D4AFCF972FA}"/>
              </a:ext>
            </a:extLst>
          </p:cNvPr>
          <p:cNvSpPr>
            <a:spLocks xmlns:a="http://schemas.openxmlformats.org/drawingml/2006/main" noGrp="1"/>
          </p:cNvSpPr>
          <p:nvPr/>
        </p:nvSpPr>
        <p:spPr>
          <a:xfrm xmlns:a="http://schemas.openxmlformats.org/drawingml/2006/main">
            <a:off x="1600200" y="40671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Get a response</a:t>
            </a:r>
          </a:p>
        </p:txBody>
      </p:sp>
      <p:sp>
        <p:nvSpPr>
          <p:cNvPr id="13" name="">
            <a:extLst xmlns:a="http://schemas.openxmlformats.org/drawingml/2006/main">
              <a:ext uri="{FF2B5EF4-FFF2-40B4-BE49-F238E27FC236}">
                <a16:creationId xmlns:a16="http://schemas.microsoft.com/office/drawing/2014/main" id="{66B4357B-3EF3-4BC7-A693-AC45F96077BB}"/>
              </a:ext>
            </a:extLst>
          </p:cNvPr>
          <p:cNvSpPr>
            <a:spLocks xmlns:a="http://schemas.openxmlformats.org/drawingml/2006/main" noGrp="1"/>
          </p:cNvSpPr>
          <p:nvPr/>
        </p:nvSpPr>
        <p:spPr>
          <a:xfrm xmlns:a="http://schemas.openxmlformats.org/drawingml/2006/main">
            <a:off x="5410200" y="4114800"/>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The coach checks the queue and replies.</a:t>
            </a:r>
          </a:p>
        </p:txBody>
      </p:sp>
      <p:sp>
        <p:nvSpPr>
          <p:cNvPr id="14" name="">
            <a:extLst xmlns:a="http://schemas.openxmlformats.org/drawingml/2006/main">
              <a:ext uri="{FF2B5EF4-FFF2-40B4-BE49-F238E27FC236}">
                <a16:creationId xmlns:a16="http://schemas.microsoft.com/office/drawing/2014/main" id="{E9C16EFB-7AB3-43D1-8E0B-7814A66A498F}"/>
              </a:ext>
            </a:extLst>
          </p:cNvPr>
          <p:cNvSpPr>
            <a:spLocks xmlns:a="http://schemas.openxmlformats.org/drawingml/2006/main" noGrp="1"/>
          </p:cNvSpPr>
          <p:nvPr/>
        </p:nvSpPr>
        <p:spPr>
          <a:xfrm xmlns:a="http://schemas.openxmlformats.org/drawingml/2006/main">
            <a:off x="609600" y="4933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D888B913-4337-474E-B463-64CFC1935777}"/>
              </a:ext>
            </a:extLst>
          </p:cNvPr>
          <p:cNvSpPr>
            <a:spLocks xmlns:a="http://schemas.openxmlformats.org/drawingml/2006/main" noGrp="1"/>
          </p:cNvSpPr>
          <p:nvPr/>
        </p:nvSpPr>
        <p:spPr>
          <a:xfrm xmlns:a="http://schemas.openxmlformats.org/drawingml/2006/main">
            <a:off x="1600200" y="49339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Return with context</a:t>
            </a:r>
          </a:p>
        </p:txBody>
      </p:sp>
      <p:sp>
        <p:nvSpPr>
          <p:cNvPr id="16" name="">
            <a:extLst xmlns:a="http://schemas.openxmlformats.org/drawingml/2006/main">
              <a:ext uri="{FF2B5EF4-FFF2-40B4-BE49-F238E27FC236}">
                <a16:creationId xmlns:a16="http://schemas.microsoft.com/office/drawing/2014/main" id="{FE5F5676-3F5F-4A39-9AEF-D3AA57017499}"/>
              </a:ext>
            </a:extLst>
          </p:cNvPr>
          <p:cNvSpPr>
            <a:spLocks xmlns:a="http://schemas.openxmlformats.org/drawingml/2006/main" noGrp="1"/>
          </p:cNvSpPr>
          <p:nvPr/>
        </p:nvSpPr>
        <p:spPr>
          <a:xfrm xmlns:a="http://schemas.openxmlformats.org/drawingml/2006/main">
            <a:off x="5410200" y="4981575"/>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Recent feedback informs the next class.</a:t>
            </a:r>
          </a:p>
        </p:txBody>
      </p:sp>
    </p:spTree>
    <p:extLst>
      <p:ext uri="{BB962C8B-B14F-4D97-AF65-F5344CB8AC3E}">
        <p14:creationId xmlns:p14="http://schemas.microsoft.com/office/powerpoint/2010/main" val="1175491589"/>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814E41-E62C-445F-AA28-103217274812}"/>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01 / AFTER CLASS</a:t>
            </a:r>
          </a:p>
        </p:txBody>
      </p:sp>
      <p:sp>
        <p:nvSpPr>
          <p:cNvPr id="2" name="">
            <a:extLst xmlns:a="http://schemas.openxmlformats.org/drawingml/2006/main">
              <a:ext uri="{FF2B5EF4-FFF2-40B4-BE49-F238E27FC236}">
                <a16:creationId xmlns:a16="http://schemas.microsoft.com/office/drawing/2014/main" id="{36562E0A-A582-430F-8C57-1F149BB6D51B}"/>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The class ends. The conversation continues.</a:t>
            </a:r>
          </a:p>
        </p:txBody>
      </p:sp>
      <p:sp>
        <p:nvSpPr>
          <p:cNvPr id="3" name="">
            <a:extLst xmlns:a="http://schemas.openxmlformats.org/drawingml/2006/main">
              <a:ext uri="{FF2B5EF4-FFF2-40B4-BE49-F238E27FC236}">
                <a16:creationId xmlns:a16="http://schemas.microsoft.com/office/drawing/2014/main" id="{EC6D37F6-025A-4B46-9A34-4031FCEFE19C}"/>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0FD24C24-FF90-4416-A8F9-B524BE1CECF4}"/>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6C887D0-8F32-47A9-BCF8-0D05073E23F8}"/>
              </a:ext>
            </a:extLst>
          </p:cNvPr>
          <p:cNvSpPr>
            <a:spLocks xmlns:a="http://schemas.openxmlformats.org/drawingml/2006/main" noGrp="1"/>
          </p:cNvSpPr>
          <p:nvPr/>
        </p:nvSpPr>
        <p:spPr>
          <a:xfrm xmlns:a="http://schemas.openxmlformats.org/drawingml/2006/main">
            <a:off x="609600" y="234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C615A"/>
                </a:solidFill>
                <a:latin typeface="Arial"/>
                <a:ea typeface="Arial"/>
                <a:cs typeface="Arial"/>
              </a:defRPr>
            </a:pPr>
            <a:r>
              <a:rPr sz="1200" b="1">
                <a:solidFill>
                  <a:srgbClr val="0C615A"/>
                </a:solidFill>
                <a:latin typeface="Arial"/>
                <a:ea typeface="Arial"/>
                <a:cs typeface="Arial"/>
              </a:rPr>
              <a:t>INTENDED MEMBER EXPERIENCE</a:t>
            </a:r>
          </a:p>
        </p:txBody>
      </p:sp>
      <p:sp>
        <p:nvSpPr>
          <p:cNvPr id="6" name="">
            <a:extLst xmlns:a="http://schemas.openxmlformats.org/drawingml/2006/main">
              <a:ext uri="{FF2B5EF4-FFF2-40B4-BE49-F238E27FC236}">
                <a16:creationId xmlns:a16="http://schemas.microsoft.com/office/drawing/2014/main" id="{F93C3ED6-90AF-4905-BF37-8B6C04B764F5}"/>
              </a:ext>
            </a:extLst>
          </p:cNvPr>
          <p:cNvSpPr>
            <a:spLocks xmlns:a="http://schemas.openxmlformats.org/drawingml/2006/main" noGrp="1"/>
          </p:cNvSpPr>
          <p:nvPr/>
        </p:nvSpPr>
        <p:spPr>
          <a:xfrm xmlns:a="http://schemas.openxmlformats.org/drawingml/2006/main">
            <a:off x="609600" y="2876550"/>
            <a:ext cx="7524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“How did training go?</a:t>
            </a:r>
          </a:p>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Anything you want your</a:t>
            </a:r>
          </a:p>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coach to help with?”</a:t>
            </a:r>
          </a:p>
        </p:txBody>
      </p:sp>
      <p:sp>
        <p:nvSpPr>
          <p:cNvPr id="7" name="">
            <a:extLst xmlns:a="http://schemas.openxmlformats.org/drawingml/2006/main">
              <a:ext uri="{FF2B5EF4-FFF2-40B4-BE49-F238E27FC236}">
                <a16:creationId xmlns:a16="http://schemas.microsoft.com/office/drawing/2014/main" id="{22B07FD5-288F-44BE-913B-12E97760EFDE}"/>
              </a:ext>
            </a:extLst>
          </p:cNvPr>
          <p:cNvSpPr>
            <a:spLocks xmlns:a="http://schemas.openxmlformats.org/drawingml/2006/main" noGrp="1"/>
          </p:cNvSpPr>
          <p:nvPr/>
        </p:nvSpPr>
        <p:spPr>
          <a:xfrm xmlns:a="http://schemas.openxmlformats.org/drawingml/2006/main">
            <a:off x="8696325" y="24955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C615A"/>
                </a:solidFill>
                <a:latin typeface="Arial"/>
                <a:ea typeface="Arial"/>
                <a:cs typeface="Arial"/>
              </a:defRPr>
            </a:pPr>
            <a:r>
              <a:rPr sz="1950" b="1">
                <a:solidFill>
                  <a:srgbClr val="0C615A"/>
                </a:solidFill>
                <a:latin typeface="Arial"/>
                <a:ea typeface="Arial"/>
                <a:cs typeface="Arial"/>
              </a:rPr>
              <a:t>In today’s demo</a:t>
            </a:r>
          </a:p>
        </p:txBody>
      </p:sp>
      <p:sp>
        <p:nvSpPr>
          <p:cNvPr id="8" name="">
            <a:extLst xmlns:a="http://schemas.openxmlformats.org/drawingml/2006/main">
              <a:ext uri="{FF2B5EF4-FFF2-40B4-BE49-F238E27FC236}">
                <a16:creationId xmlns:a16="http://schemas.microsoft.com/office/drawing/2014/main" id="{4F5E4B73-74FF-4C69-B0CA-B9A21FF7D90E}"/>
              </a:ext>
            </a:extLst>
          </p:cNvPr>
          <p:cNvSpPr>
            <a:spLocks xmlns:a="http://schemas.openxmlformats.org/drawingml/2006/main" noGrp="1"/>
          </p:cNvSpPr>
          <p:nvPr/>
        </p:nvSpPr>
        <p:spPr>
          <a:xfrm xmlns:a="http://schemas.openxmlformats.org/drawingml/2006/main">
            <a:off x="8696325" y="3067050"/>
            <a:ext cx="28860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A simulated post-class</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message, triggered in</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Demo tools.</a:t>
            </a:r>
          </a:p>
        </p:txBody>
      </p:sp>
      <p:sp>
        <p:nvSpPr>
          <p:cNvPr id="9" name="">
            <a:extLst xmlns:a="http://schemas.openxmlformats.org/drawingml/2006/main">
              <a:ext uri="{FF2B5EF4-FFF2-40B4-BE49-F238E27FC236}">
                <a16:creationId xmlns:a16="http://schemas.microsoft.com/office/drawing/2014/main" id="{443550B9-10DC-4A16-9862-F17E1F0809BE}"/>
              </a:ext>
            </a:extLst>
          </p:cNvPr>
          <p:cNvSpPr>
            <a:spLocks xmlns:a="http://schemas.openxmlformats.org/drawingml/2006/main" noGrp="1"/>
          </p:cNvSpPr>
          <p:nvPr/>
        </p:nvSpPr>
        <p:spPr>
          <a:xfrm xmlns:a="http://schemas.openxmlformats.org/drawingml/2006/main">
            <a:off x="8696325" y="4752975"/>
            <a:ext cx="2886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A6964"/>
                </a:solidFill>
                <a:latin typeface="Arial"/>
                <a:ea typeface="Arial"/>
                <a:cs typeface="Arial"/>
              </a:defRPr>
            </a:pPr>
            <a:r>
              <a:rPr sz="1725" b="0">
                <a:solidFill>
                  <a:srgbClr val="5A6964"/>
                </a:solidFill>
                <a:latin typeface="Arial"/>
                <a:ea typeface="Arial"/>
                <a:cs typeface="Arial"/>
              </a:rPr>
              <a:t>Live attendance sync</a:t>
            </a:r>
          </a:p>
          <a:p xmlns:a="http://schemas.openxmlformats.org/drawingml/2006/main">
            <a:pPr>
              <a:defRPr sz="1725" b="0">
                <a:solidFill>
                  <a:srgbClr val="5A6964"/>
                </a:solidFill>
                <a:latin typeface="Arial"/>
                <a:ea typeface="Arial"/>
                <a:cs typeface="Arial"/>
              </a:defRPr>
            </a:pPr>
            <a:r>
              <a:rPr sz="1725" b="0">
                <a:solidFill>
                  <a:srgbClr val="5A6964"/>
                </a:solidFill>
                <a:latin typeface="Arial"/>
                <a:ea typeface="Arial"/>
                <a:cs typeface="Arial"/>
              </a:rPr>
              <a:t>is the next test.</a:t>
            </a:r>
          </a:p>
        </p:txBody>
      </p:sp>
      <p:sp>
        <p:nvSpPr>
          <p:cNvPr id="10" name="">
            <a:extLst xmlns:a="http://schemas.openxmlformats.org/drawingml/2006/main">
              <a:ext uri="{FF2B5EF4-FFF2-40B4-BE49-F238E27FC236}">
                <a16:creationId xmlns:a16="http://schemas.microsoft.com/office/drawing/2014/main" id="{F96772D8-C782-4AB9-88B8-D2A748583C12}"/>
              </a:ext>
            </a:extLst>
          </p:cNvPr>
          <p:cNvSpPr>
            <a:spLocks xmlns:a="http://schemas.openxmlformats.org/drawingml/2006/main" noGrp="1"/>
          </p:cNvSpPr>
          <p:nvPr/>
        </p:nvSpPr>
        <p:spPr>
          <a:xfrm xmlns:a="http://schemas.openxmlformats.org/drawingml/2006/main">
            <a:off x="609600" y="57816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A6964"/>
                </a:solidFill>
                <a:latin typeface="Arial"/>
                <a:ea typeface="Arial"/>
                <a:cs typeface="Arial"/>
              </a:defRPr>
            </a:pPr>
            <a:r>
              <a:rPr sz="1500" b="0">
                <a:solidFill>
                  <a:srgbClr val="5A6964"/>
                </a:solidFill>
                <a:latin typeface="Arial"/>
                <a:ea typeface="Arial"/>
                <a:cs typeface="Arial"/>
              </a:rPr>
              <a:t>Target: verified attendance + class end + opt-in. Timing is a pilot choice.</a:t>
            </a:r>
          </a:p>
        </p:txBody>
      </p:sp>
    </p:spTree>
    <p:extLst>
      <p:ext uri="{BB962C8B-B14F-4D97-AF65-F5344CB8AC3E}">
        <p14:creationId xmlns:p14="http://schemas.microsoft.com/office/powerpoint/2010/main" val="316310510"/>
      </p:ext>
    </p:extLst>
  </p:cSld>
</p:sld>
</file>

<file path=ppt/slides/slide4.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F564CD-8E82-4566-A0CE-F84FC882A3FE}"/>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02 / THE MEMBER</a:t>
            </a:r>
          </a:p>
        </p:txBody>
      </p:sp>
      <p:sp>
        <p:nvSpPr>
          <p:cNvPr id="2" name="">
            <a:extLst xmlns:a="http://schemas.openxmlformats.org/drawingml/2006/main">
              <a:ext uri="{FF2B5EF4-FFF2-40B4-BE49-F238E27FC236}">
                <a16:creationId xmlns:a16="http://schemas.microsoft.com/office/drawing/2014/main" id="{4BD40766-CC11-43E6-8904-FEF2DA728CD6}"/>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A small question, while it is still fresh.</a:t>
            </a:r>
          </a:p>
        </p:txBody>
      </p:sp>
      <p:sp>
        <p:nvSpPr>
          <p:cNvPr id="3" name="">
            <a:extLst xmlns:a="http://schemas.openxmlformats.org/drawingml/2006/main">
              <a:ext uri="{FF2B5EF4-FFF2-40B4-BE49-F238E27FC236}">
                <a16:creationId xmlns:a16="http://schemas.microsoft.com/office/drawing/2014/main" id="{9C92394B-3C89-4611-A305-BAC40D0107A0}"/>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EE78C1A2-DB72-4867-B7B7-C7B50EE18CDC}"/>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4877028-4F37-4D10-8F39-F7A0AE412A7D}"/>
              </a:ext>
            </a:extLst>
          </p:cNvPr>
          <p:cNvSpPr>
            <a:spLocks xmlns:a="http://schemas.openxmlformats.org/drawingml/2006/main" noGrp="1"/>
          </p:cNvSpPr>
          <p:nvPr/>
        </p:nvSpPr>
        <p:spPr>
          <a:xfrm xmlns:a="http://schemas.openxmlformats.org/drawingml/2006/main">
            <a:off x="609600" y="23336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1D0C4"/>
                </a:solidFill>
                <a:latin typeface="Arial"/>
                <a:ea typeface="Arial"/>
                <a:cs typeface="Arial"/>
              </a:defRPr>
            </a:pPr>
            <a:r>
              <a:rPr sz="1200" b="1">
                <a:solidFill>
                  <a:srgbClr val="91D0C4"/>
                </a:solidFill>
                <a:latin typeface="Arial"/>
                <a:ea typeface="Arial"/>
                <a:cs typeface="Arial"/>
              </a:rPr>
              <a:t>ILLUSTRATIVE MEMBER MESSAGE</a:t>
            </a:r>
          </a:p>
        </p:txBody>
      </p:sp>
      <p:sp>
        <p:nvSpPr>
          <p:cNvPr id="6" name="">
            <a:extLst xmlns:a="http://schemas.openxmlformats.org/drawingml/2006/main">
              <a:ext uri="{FF2B5EF4-FFF2-40B4-BE49-F238E27FC236}">
                <a16:creationId xmlns:a16="http://schemas.microsoft.com/office/drawing/2014/main" id="{824D2EA3-C357-4803-BC73-23A33E88AA3B}"/>
              </a:ext>
            </a:extLst>
          </p:cNvPr>
          <p:cNvSpPr>
            <a:spLocks xmlns:a="http://schemas.openxmlformats.org/drawingml/2006/main" noGrp="1"/>
          </p:cNvSpPr>
          <p:nvPr/>
        </p:nvSpPr>
        <p:spPr>
          <a:xfrm xmlns:a="http://schemas.openxmlformats.org/drawingml/2006/main">
            <a:off x="609600" y="2886075"/>
            <a:ext cx="108108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“My jab felt sharper, but I keep</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getting countered as I step out.</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What should I focus on next class?”</a:t>
            </a:r>
          </a:p>
        </p:txBody>
      </p:sp>
      <p:sp>
        <p:nvSpPr>
          <p:cNvPr id="7" name="">
            <a:extLst xmlns:a="http://schemas.openxmlformats.org/drawingml/2006/main">
              <a:ext uri="{FF2B5EF4-FFF2-40B4-BE49-F238E27FC236}">
                <a16:creationId xmlns:a16="http://schemas.microsoft.com/office/drawing/2014/main" id="{E3D22560-747E-42AA-A9AE-FD2B01C8178E}"/>
              </a:ext>
            </a:extLst>
          </p:cNvPr>
          <p:cNvSpPr>
            <a:spLocks xmlns:a="http://schemas.openxmlformats.org/drawingml/2006/main" noGrp="1"/>
          </p:cNvSpPr>
          <p:nvPr/>
        </p:nvSpPr>
        <p:spPr>
          <a:xfrm xmlns:a="http://schemas.openxmlformats.org/drawingml/2006/main">
            <a:off x="609600" y="52578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Text or voice is the target experience.</a:t>
            </a:r>
          </a:p>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Today, a typed transcript demonstrates the voice-note path.</a:t>
            </a:r>
          </a:p>
        </p:txBody>
      </p:sp>
    </p:spTree>
    <p:extLst>
      <p:ext uri="{BB962C8B-B14F-4D97-AF65-F5344CB8AC3E}">
        <p14:creationId xmlns:p14="http://schemas.microsoft.com/office/powerpoint/2010/main" val="1379912717"/>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C63DAF-4D11-4E43-BD30-9948A3F14218}"/>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03 / THE COACH</a:t>
            </a:r>
          </a:p>
        </p:txBody>
      </p:sp>
      <p:sp>
        <p:nvSpPr>
          <p:cNvPr id="2" name="">
            <a:extLst xmlns:a="http://schemas.openxmlformats.org/drawingml/2006/main">
              <a:ext uri="{FF2B5EF4-FFF2-40B4-BE49-F238E27FC236}">
                <a16:creationId xmlns:a16="http://schemas.microsoft.com/office/drawing/2014/main" id="{F8FFB5D4-93D6-4FB0-A6BB-C9A0B2BB5E5A}"/>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A queue the coach can act on.</a:t>
            </a:r>
          </a:p>
        </p:txBody>
      </p:sp>
      <p:sp>
        <p:nvSpPr>
          <p:cNvPr id="3" name="">
            <a:extLst xmlns:a="http://schemas.openxmlformats.org/drawingml/2006/main">
              <a:ext uri="{FF2B5EF4-FFF2-40B4-BE49-F238E27FC236}">
                <a16:creationId xmlns:a16="http://schemas.microsoft.com/office/drawing/2014/main" id="{06083EBB-C500-437B-9825-46169C9A1143}"/>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331609E9-355B-433B-A782-4AEF22FE29A8}"/>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ADA13B6-6FF1-4070-B939-AB115C4D3077}"/>
              </a:ext>
            </a:extLst>
          </p:cNvPr>
          <p:cNvSpPr>
            <a:spLocks xmlns:a="http://schemas.openxmlformats.org/drawingml/2006/main" noGrp="1"/>
          </p:cNvSpPr>
          <p:nvPr/>
        </p:nvSpPr>
        <p:spPr>
          <a:xfrm xmlns:a="http://schemas.openxmlformats.org/drawingml/2006/main">
            <a:off x="609600" y="240982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Read the original.</a:t>
            </a:r>
          </a:p>
        </p:txBody>
      </p:sp>
      <p:sp>
        <p:nvSpPr>
          <p:cNvPr id="6" name="">
            <a:extLst xmlns:a="http://schemas.openxmlformats.org/drawingml/2006/main">
              <a:ext uri="{FF2B5EF4-FFF2-40B4-BE49-F238E27FC236}">
                <a16:creationId xmlns:a16="http://schemas.microsoft.com/office/drawing/2014/main" id="{3F8B2FC7-937C-4A86-ADBE-145F961BAD4C}"/>
              </a:ext>
            </a:extLst>
          </p:cNvPr>
          <p:cNvSpPr>
            <a:spLocks xmlns:a="http://schemas.openxmlformats.org/drawingml/2006/main" noGrp="1"/>
          </p:cNvSpPr>
          <p:nvPr/>
        </p:nvSpPr>
        <p:spPr>
          <a:xfrm xmlns:a="http://schemas.openxmlformats.org/drawingml/2006/main">
            <a:off x="609600" y="321945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Review the context.</a:t>
            </a:r>
          </a:p>
        </p:txBody>
      </p:sp>
      <p:sp>
        <p:nvSpPr>
          <p:cNvPr id="7" name="">
            <a:extLst xmlns:a="http://schemas.openxmlformats.org/drawingml/2006/main">
              <a:ext uri="{FF2B5EF4-FFF2-40B4-BE49-F238E27FC236}">
                <a16:creationId xmlns:a16="http://schemas.microsoft.com/office/drawing/2014/main" id="{52636D66-4E6F-4C59-81E6-AC219A8A7B29}"/>
              </a:ext>
            </a:extLst>
          </p:cNvPr>
          <p:cNvSpPr>
            <a:spLocks xmlns:a="http://schemas.openxmlformats.org/drawingml/2006/main" noGrp="1"/>
          </p:cNvSpPr>
          <p:nvPr/>
        </p:nvSpPr>
        <p:spPr>
          <a:xfrm xmlns:a="http://schemas.openxmlformats.org/drawingml/2006/main">
            <a:off x="609600" y="402907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Send one useful reply.</a:t>
            </a:r>
          </a:p>
        </p:txBody>
      </p:sp>
      <p:sp>
        <p:nvSpPr>
          <p:cNvPr id="8" name="">
            <a:extLst xmlns:a="http://schemas.openxmlformats.org/drawingml/2006/main">
              <a:ext uri="{FF2B5EF4-FFF2-40B4-BE49-F238E27FC236}">
                <a16:creationId xmlns:a16="http://schemas.microsoft.com/office/drawing/2014/main" id="{B4BF49F5-644E-4995-BC4A-08D32D6CC705}"/>
              </a:ext>
            </a:extLst>
          </p:cNvPr>
          <p:cNvSpPr>
            <a:spLocks xmlns:a="http://schemas.openxmlformats.org/drawingml/2006/main" noGrp="1"/>
          </p:cNvSpPr>
          <p:nvPr/>
        </p:nvSpPr>
        <p:spPr>
          <a:xfrm xmlns:a="http://schemas.openxmlformats.org/drawingml/2006/main">
            <a:off x="609600" y="52387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The coach stays responsible</a:t>
            </a:r>
          </a:p>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for the advice.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571153ff5c842d2"/>
          <a:stretch xmlns:a="http://schemas.openxmlformats.org/drawingml/2006/main"/>
        </p:blipFill>
        <p:spPr>
          <a:xfrm xmlns:a="http://schemas.openxmlformats.org/drawingml/2006/main">
            <a:off x="6310360" y="2162175"/>
            <a:ext cx="4409980" cy="3962400"/>
          </a:xfrm>
          <a:prstGeom xmlns:a="http://schemas.openxmlformats.org/drawingml/2006/main" prst="rect">
            <a:avLst/>
          </a:prstGeom>
        </p:spPr>
      </p:pic>
    </p:spTree>
    <p:extLst>
      <p:ext uri="{BB962C8B-B14F-4D97-AF65-F5344CB8AC3E}">
        <p14:creationId xmlns:p14="http://schemas.microsoft.com/office/powerpoint/2010/main" val="1123866883"/>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BAABFB-3640-40AB-ACCE-B296D5BC58E2}"/>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04 / BEFORE THE NEXT CLASS</a:t>
            </a:r>
          </a:p>
        </p:txBody>
      </p:sp>
      <p:sp>
        <p:nvSpPr>
          <p:cNvPr id="2" name="">
            <a:extLst xmlns:a="http://schemas.openxmlformats.org/drawingml/2006/main">
              <a:ext uri="{FF2B5EF4-FFF2-40B4-BE49-F238E27FC236}">
                <a16:creationId xmlns:a16="http://schemas.microsoft.com/office/drawing/2014/main" id="{64511FFE-B7D7-4157-9C30-E72CFD374C73}"/>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Walk in knowing what needs attention.</a:t>
            </a:r>
          </a:p>
        </p:txBody>
      </p:sp>
      <p:sp>
        <p:nvSpPr>
          <p:cNvPr id="3" name="">
            <a:extLst xmlns:a="http://schemas.openxmlformats.org/drawingml/2006/main">
              <a:ext uri="{FF2B5EF4-FFF2-40B4-BE49-F238E27FC236}">
                <a16:creationId xmlns:a16="http://schemas.microsoft.com/office/drawing/2014/main" id="{A0824474-8B63-4AEA-96B1-F5562DE13D8F}"/>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811997EB-FEA2-43D3-8178-99202688D8EA}"/>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0B6B7C45-564F-4FA2-8D98-B51D504DAF34}"/>
              </a:ext>
            </a:extLst>
          </p:cNvPr>
          <p:cNvSpPr>
            <a:spLocks xmlns:a="http://schemas.openxmlformats.org/drawingml/2006/main" noGrp="1"/>
          </p:cNvSpPr>
          <p:nvPr/>
        </p:nvSpPr>
        <p:spPr>
          <a:xfrm xmlns:a="http://schemas.openxmlformats.org/drawingml/2006/main">
            <a:off x="609600" y="23526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Who is coming?</a:t>
            </a:r>
          </a:p>
        </p:txBody>
      </p:sp>
      <p:sp>
        <p:nvSpPr>
          <p:cNvPr id="6" name="">
            <a:extLst xmlns:a="http://schemas.openxmlformats.org/drawingml/2006/main">
              <a:ext uri="{FF2B5EF4-FFF2-40B4-BE49-F238E27FC236}">
                <a16:creationId xmlns:a16="http://schemas.microsoft.com/office/drawing/2014/main" id="{4DF0E214-D7A1-477B-96F5-43244E8F7908}"/>
              </a:ext>
            </a:extLst>
          </p:cNvPr>
          <p:cNvSpPr>
            <a:spLocks xmlns:a="http://schemas.openxmlformats.org/drawingml/2006/main" noGrp="1"/>
          </p:cNvSpPr>
          <p:nvPr/>
        </p:nvSpPr>
        <p:spPr>
          <a:xfrm xmlns:a="http://schemas.openxmlformats.org/drawingml/2006/main">
            <a:off x="609600" y="3228975"/>
            <a:ext cx="3448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What have they</a:t>
            </a:r>
          </a:p>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been working on?</a:t>
            </a:r>
          </a:p>
        </p:txBody>
      </p:sp>
      <p:sp>
        <p:nvSpPr>
          <p:cNvPr id="7" name="">
            <a:extLst xmlns:a="http://schemas.openxmlformats.org/drawingml/2006/main">
              <a:ext uri="{FF2B5EF4-FFF2-40B4-BE49-F238E27FC236}">
                <a16:creationId xmlns:a16="http://schemas.microsoft.com/office/drawing/2014/main" id="{E8C72D8D-69F5-4058-969E-2CEBD6BFB05E}"/>
              </a:ext>
            </a:extLst>
          </p:cNvPr>
          <p:cNvSpPr>
            <a:spLocks xmlns:a="http://schemas.openxmlformats.org/drawingml/2006/main" noGrp="1"/>
          </p:cNvSpPr>
          <p:nvPr/>
        </p:nvSpPr>
        <p:spPr>
          <a:xfrm xmlns:a="http://schemas.openxmlformats.org/drawingml/2006/main">
            <a:off x="609600" y="4533900"/>
            <a:ext cx="3448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What should the</a:t>
            </a:r>
          </a:p>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coach follow up 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3f1dcb171284b38"/>
          <a:stretch xmlns:a="http://schemas.openxmlformats.org/drawingml/2006/main"/>
        </p:blipFill>
        <p:spPr>
          <a:xfrm xmlns:a="http://schemas.openxmlformats.org/drawingml/2006/main">
            <a:off x="5170560" y="2019300"/>
            <a:ext cx="5508480" cy="4133850"/>
          </a:xfrm>
          <a:prstGeom xmlns:a="http://schemas.openxmlformats.org/drawingml/2006/main" prst="rect">
            <a:avLst/>
          </a:prstGeom>
        </p:spPr>
      </p:pic>
    </p:spTree>
    <p:extLst>
      <p:ext uri="{BB962C8B-B14F-4D97-AF65-F5344CB8AC3E}">
        <p14:creationId xmlns:p14="http://schemas.microsoft.com/office/powerpoint/2010/main" val="586882916"/>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2DEE27-0EBB-4597-98FF-D2A4CF6B26FA}"/>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INTEGRATION TEST</a:t>
            </a:r>
          </a:p>
        </p:txBody>
      </p:sp>
      <p:sp>
        <p:nvSpPr>
          <p:cNvPr id="2" name="">
            <a:extLst xmlns:a="http://schemas.openxmlformats.org/drawingml/2006/main">
              <a:ext uri="{FF2B5EF4-FFF2-40B4-BE49-F238E27FC236}">
                <a16:creationId xmlns:a16="http://schemas.microsoft.com/office/drawing/2014/main" id="{8A11D402-1BAD-4614-9AA5-C7AFAEBA685C}"/>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Start with one gym. Prove the full loop.</a:t>
            </a:r>
          </a:p>
        </p:txBody>
      </p:sp>
      <p:sp>
        <p:nvSpPr>
          <p:cNvPr id="3" name="">
            <a:extLst xmlns:a="http://schemas.openxmlformats.org/drawingml/2006/main">
              <a:ext uri="{FF2B5EF4-FFF2-40B4-BE49-F238E27FC236}">
                <a16:creationId xmlns:a16="http://schemas.microsoft.com/office/drawing/2014/main" id="{69FB94A3-71B4-456B-942C-A6A0E58221C1}"/>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CAF954A4-65A3-428C-86DC-EBABECDC3D68}"/>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DF89FDD-06A2-4F49-A9F1-613525AD1702}"/>
              </a:ext>
            </a:extLst>
          </p:cNvPr>
          <p:cNvSpPr>
            <a:spLocks xmlns:a="http://schemas.openxmlformats.org/drawingml/2006/main" noGrp="1"/>
          </p:cNvSpPr>
          <p:nvPr/>
        </p:nvSpPr>
        <p:spPr>
          <a:xfrm xmlns:a="http://schemas.openxmlformats.org/drawingml/2006/main">
            <a:off x="609600" y="22860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GYMDESK FIRST</a:t>
            </a:r>
          </a:p>
        </p:txBody>
      </p:sp>
      <p:sp>
        <p:nvSpPr>
          <p:cNvPr id="6" name="">
            <a:extLst xmlns:a="http://schemas.openxmlformats.org/drawingml/2006/main">
              <a:ext uri="{FF2B5EF4-FFF2-40B4-BE49-F238E27FC236}">
                <a16:creationId xmlns:a16="http://schemas.microsoft.com/office/drawing/2014/main" id="{20FD3D10-8154-44DC-BE36-1545855411BC}"/>
              </a:ext>
            </a:extLst>
          </p:cNvPr>
          <p:cNvSpPr>
            <a:spLocks xmlns:a="http://schemas.openxmlformats.org/drawingml/2006/main" noGrp="1"/>
          </p:cNvSpPr>
          <p:nvPr/>
        </p:nvSpPr>
        <p:spPr>
          <a:xfrm xmlns:a="http://schemas.openxmlformats.org/drawingml/2006/main">
            <a:off x="609600" y="2857500"/>
            <a:ext cx="500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191C"/>
                </a:solidFill>
                <a:latin typeface="Arial"/>
                <a:ea typeface="Arial"/>
                <a:cs typeface="Arial"/>
              </a:defRPr>
            </a:pPr>
            <a:r>
              <a:rPr sz="2475" b="1">
                <a:solidFill>
                  <a:srgbClr val="17191C"/>
                </a:solidFill>
                <a:latin typeface="Arial"/>
                <a:ea typeface="Arial"/>
                <a:cs typeface="Arial"/>
              </a:rPr>
              <a:t>Check-In trigger via Zapier</a:t>
            </a:r>
          </a:p>
        </p:txBody>
      </p:sp>
      <p:sp>
        <p:nvSpPr>
          <p:cNvPr id="7" name="">
            <a:extLst xmlns:a="http://schemas.openxmlformats.org/drawingml/2006/main">
              <a:ext uri="{FF2B5EF4-FFF2-40B4-BE49-F238E27FC236}">
                <a16:creationId xmlns:a16="http://schemas.microsoft.com/office/drawing/2014/main" id="{C8D9CEB6-4F3C-44BA-9518-CCFB446C6FE9}"/>
              </a:ext>
            </a:extLst>
          </p:cNvPr>
          <p:cNvSpPr>
            <a:spLocks xmlns:a="http://schemas.openxmlformats.org/drawingml/2006/main" noGrp="1"/>
          </p:cNvSpPr>
          <p:nvPr/>
        </p:nvSpPr>
        <p:spPr>
          <a:xfrm xmlns:a="http://schemas.openxmlformats.org/drawingml/2006/main">
            <a:off x="609600" y="377190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Confirm member, class and end time.</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Then test one opted-in adult account.</a:t>
            </a:r>
          </a:p>
        </p:txBody>
      </p:sp>
      <p:sp>
        <p:nvSpPr>
          <p:cNvPr id="8" name="">
            <a:extLst xmlns:a="http://schemas.openxmlformats.org/drawingml/2006/main">
              <a:ext uri="{FF2B5EF4-FFF2-40B4-BE49-F238E27FC236}">
                <a16:creationId xmlns:a16="http://schemas.microsoft.com/office/drawing/2014/main" id="{25AF7EEC-2ECB-4127-8C92-DE3F1B98E374}"/>
              </a:ext>
            </a:extLst>
          </p:cNvPr>
          <p:cNvSpPr>
            <a:spLocks xmlns:a="http://schemas.openxmlformats.org/drawingml/2006/main" noGrp="1"/>
          </p:cNvSpPr>
          <p:nvPr/>
        </p:nvSpPr>
        <p:spPr>
          <a:xfrm xmlns:a="http://schemas.openxmlformats.org/drawingml/2006/main">
            <a:off x="6543675" y="22860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MINDBODY PATH</a:t>
            </a:r>
          </a:p>
        </p:txBody>
      </p:sp>
      <p:sp>
        <p:nvSpPr>
          <p:cNvPr id="9" name="">
            <a:extLst xmlns:a="http://schemas.openxmlformats.org/drawingml/2006/main">
              <a:ext uri="{FF2B5EF4-FFF2-40B4-BE49-F238E27FC236}">
                <a16:creationId xmlns:a16="http://schemas.microsoft.com/office/drawing/2014/main" id="{17E0F956-061F-49F2-8A85-0477F581882B}"/>
              </a:ext>
            </a:extLst>
          </p:cNvPr>
          <p:cNvSpPr>
            <a:spLocks xmlns:a="http://schemas.openxmlformats.org/drawingml/2006/main" noGrp="1"/>
          </p:cNvSpPr>
          <p:nvPr/>
        </p:nvSpPr>
        <p:spPr>
          <a:xfrm xmlns:a="http://schemas.openxmlformats.org/drawingml/2006/main">
            <a:off x="6543675" y="285750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191C"/>
                </a:solidFill>
                <a:latin typeface="Arial"/>
                <a:ea typeface="Arial"/>
                <a:cs typeface="Arial"/>
              </a:defRPr>
            </a:pPr>
            <a:r>
              <a:rPr sz="2475" b="1">
                <a:solidFill>
                  <a:srgbClr val="17191C"/>
                </a:solidFill>
                <a:latin typeface="Arial"/>
                <a:ea typeface="Arial"/>
                <a:cs typeface="Arial"/>
              </a:rPr>
              <a:t>Roster events + signed-in status</a:t>
            </a:r>
          </a:p>
        </p:txBody>
      </p:sp>
      <p:sp>
        <p:nvSpPr>
          <p:cNvPr id="10" name="">
            <a:extLst xmlns:a="http://schemas.openxmlformats.org/drawingml/2006/main">
              <a:ext uri="{FF2B5EF4-FFF2-40B4-BE49-F238E27FC236}">
                <a16:creationId xmlns:a16="http://schemas.microsoft.com/office/drawing/2014/main" id="{EE821CFE-0561-4848-8CD7-60E40A4700E7}"/>
              </a:ext>
            </a:extLst>
          </p:cNvPr>
          <p:cNvSpPr>
            <a:spLocks xmlns:a="http://schemas.openxmlformats.org/drawingml/2006/main" noGrp="1"/>
          </p:cNvSpPr>
          <p:nvPr/>
        </p:nvSpPr>
        <p:spPr>
          <a:xfrm xmlns:a="http://schemas.openxmlformats.org/drawingml/2006/main">
            <a:off x="6543675" y="3924300"/>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Confirm access and event behavior.</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Reuse the same coaching workflow.</a:t>
            </a:r>
          </a:p>
        </p:txBody>
      </p:sp>
      <p:sp>
        <p:nvSpPr>
          <p:cNvPr id="11" name="">
            <a:extLst xmlns:a="http://schemas.openxmlformats.org/drawingml/2006/main">
              <a:ext uri="{FF2B5EF4-FFF2-40B4-BE49-F238E27FC236}">
                <a16:creationId xmlns:a16="http://schemas.microsoft.com/office/drawing/2014/main" id="{0866EAAD-0227-4E8F-BAD8-44251BFF73AF}"/>
              </a:ext>
            </a:extLst>
          </p:cNvPr>
          <p:cNvSpPr>
            <a:spLocks xmlns:a="http://schemas.openxmlformats.org/drawingml/2006/main" noGrp="1"/>
          </p:cNvSpPr>
          <p:nvPr/>
        </p:nvSpPr>
        <p:spPr>
          <a:xfrm xmlns:a="http://schemas.openxmlformats.org/drawingml/2006/main">
            <a:off x="609600" y="5410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C615A"/>
                </a:solidFill>
                <a:latin typeface="Arial"/>
                <a:ea typeface="Arial"/>
                <a:cs typeface="Arial"/>
              </a:defRPr>
            </a:pPr>
            <a:r>
              <a:rPr sz="1800" b="1">
                <a:solidFill>
                  <a:srgbClr val="0C615A"/>
                </a:solidFill>
                <a:latin typeface="Arial"/>
                <a:ea typeface="Arial"/>
                <a:cs typeface="Arial"/>
              </a:rPr>
              <a:t>Pass condition: one attended class → one delivered ping → reply → next-class context.</a:t>
            </a:r>
          </a:p>
        </p:txBody>
      </p:sp>
    </p:spTree>
    <p:extLst>
      <p:ext uri="{BB962C8B-B14F-4D97-AF65-F5344CB8AC3E}">
        <p14:creationId xmlns:p14="http://schemas.microsoft.com/office/powerpoint/2010/main" val="228187099"/>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C0A809-0FC2-4A67-BA82-1DE845FCAB88}"/>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PROTOTYPE → PILOT</a:t>
            </a:r>
          </a:p>
        </p:txBody>
      </p:sp>
      <p:sp>
        <p:nvSpPr>
          <p:cNvPr id="2" name="">
            <a:extLst xmlns:a="http://schemas.openxmlformats.org/drawingml/2006/main">
              <a:ext uri="{FF2B5EF4-FFF2-40B4-BE49-F238E27FC236}">
                <a16:creationId xmlns:a16="http://schemas.microsoft.com/office/drawing/2014/main" id="{C5F1B533-0F06-472A-B75A-BB31ADD4C039}"/>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What you are seeing today.</a:t>
            </a:r>
          </a:p>
        </p:txBody>
      </p:sp>
      <p:sp>
        <p:nvSpPr>
          <p:cNvPr id="3" name="">
            <a:extLst xmlns:a="http://schemas.openxmlformats.org/drawingml/2006/main">
              <a:ext uri="{FF2B5EF4-FFF2-40B4-BE49-F238E27FC236}">
                <a16:creationId xmlns:a16="http://schemas.microsoft.com/office/drawing/2014/main" id="{FAE620F9-AEDB-48C9-B6B5-8DF7BF0E246C}"/>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F2BCB0FF-110B-467B-B55E-E2C45D2B27B6}"/>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9CEA9F5-CF81-4E38-B941-232D4BAC450F}"/>
              </a:ext>
            </a:extLst>
          </p:cNvPr>
          <p:cNvSpPr>
            <a:spLocks xmlns:a="http://schemas.openxmlformats.org/drawingml/2006/main" noGrp="1"/>
          </p:cNvSpPr>
          <p:nvPr/>
        </p:nvSpPr>
        <p:spPr>
          <a:xfrm xmlns:a="http://schemas.openxmlformats.org/drawingml/2006/main">
            <a:off x="609600" y="2400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WORKING LOCALLY</a:t>
            </a:r>
          </a:p>
        </p:txBody>
      </p:sp>
      <p:sp>
        <p:nvSpPr>
          <p:cNvPr id="6" name="">
            <a:extLst xmlns:a="http://schemas.openxmlformats.org/drawingml/2006/main">
              <a:ext uri="{FF2B5EF4-FFF2-40B4-BE49-F238E27FC236}">
                <a16:creationId xmlns:a16="http://schemas.microsoft.com/office/drawing/2014/main" id="{018F29F3-07DF-4B12-A05A-E8008BDB53E9}"/>
              </a:ext>
            </a:extLst>
          </p:cNvPr>
          <p:cNvSpPr>
            <a:spLocks xmlns:a="http://schemas.openxmlformats.org/drawingml/2006/main" noGrp="1"/>
          </p:cNvSpPr>
          <p:nvPr/>
        </p:nvSpPr>
        <p:spPr>
          <a:xfrm xmlns:a="http://schemas.openxmlformats.org/drawingml/2006/main">
            <a:off x="609600" y="2990850"/>
            <a:ext cx="51244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Member message → coach queue</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Coach response → conversation</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Recent logs → class brief</a:t>
            </a:r>
          </a:p>
        </p:txBody>
      </p:sp>
      <p:sp>
        <p:nvSpPr>
          <p:cNvPr id="7" name="">
            <a:extLst xmlns:a="http://schemas.openxmlformats.org/drawingml/2006/main">
              <a:ext uri="{FF2B5EF4-FFF2-40B4-BE49-F238E27FC236}">
                <a16:creationId xmlns:a16="http://schemas.microsoft.com/office/drawing/2014/main" id="{135BFE36-7F6C-4CFE-AB30-5A4137223D23}"/>
              </a:ext>
            </a:extLst>
          </p:cNvPr>
          <p:cNvSpPr>
            <a:spLocks xmlns:a="http://schemas.openxmlformats.org/drawingml/2006/main" noGrp="1"/>
          </p:cNvSpPr>
          <p:nvPr/>
        </p:nvSpPr>
        <p:spPr>
          <a:xfrm xmlns:a="http://schemas.openxmlformats.org/drawingml/2006/main">
            <a:off x="6486525" y="2400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NEXT TO VERIFY LIVE</a:t>
            </a:r>
          </a:p>
        </p:txBody>
      </p:sp>
      <p:sp>
        <p:nvSpPr>
          <p:cNvPr id="8" name="">
            <a:extLst xmlns:a="http://schemas.openxmlformats.org/drawingml/2006/main">
              <a:ext uri="{FF2B5EF4-FFF2-40B4-BE49-F238E27FC236}">
                <a16:creationId xmlns:a16="http://schemas.microsoft.com/office/drawing/2014/main" id="{CB042CC2-A745-4804-95F2-9AFD296F84F1}"/>
              </a:ext>
            </a:extLst>
          </p:cNvPr>
          <p:cNvSpPr>
            <a:spLocks xmlns:a="http://schemas.openxmlformats.org/drawingml/2006/main" noGrp="1"/>
          </p:cNvSpPr>
          <p:nvPr/>
        </p:nvSpPr>
        <p:spPr>
          <a:xfrm xmlns:a="http://schemas.openxmlformats.org/drawingml/2006/main">
            <a:off x="6486525" y="2990850"/>
            <a:ext cx="50958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Attendance and message delivery</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Real voice-note capture</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Staff access and reliable scheduling</a:t>
            </a:r>
          </a:p>
        </p:txBody>
      </p:sp>
      <p:sp>
        <p:nvSpPr>
          <p:cNvPr id="9" name="">
            <a:extLst xmlns:a="http://schemas.openxmlformats.org/drawingml/2006/main">
              <a:ext uri="{FF2B5EF4-FFF2-40B4-BE49-F238E27FC236}">
                <a16:creationId xmlns:a16="http://schemas.microsoft.com/office/drawing/2014/main" id="{5290630A-FBC8-457A-8B02-D97174F06A37}"/>
              </a:ext>
            </a:extLst>
          </p:cNvPr>
          <p:cNvSpPr>
            <a:spLocks xmlns:a="http://schemas.openxmlformats.org/drawingml/2006/main" noGrp="1"/>
          </p:cNvSpPr>
          <p:nvPr/>
        </p:nvSpPr>
        <p:spPr>
          <a:xfrm xmlns:a="http://schemas.openxmlformats.org/drawingml/2006/main">
            <a:off x="609600" y="5314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Voice, summaries and delivery are simulated in this demo.</a:t>
            </a:r>
          </a:p>
        </p:txBody>
      </p:sp>
    </p:spTree>
    <p:extLst>
      <p:ext uri="{BB962C8B-B14F-4D97-AF65-F5344CB8AC3E}">
        <p14:creationId xmlns:p14="http://schemas.microsoft.com/office/powerpoint/2010/main" val="1783940233"/>
      </p:ext>
    </p:extLst>
  </p:cSld>
</p:sld>
</file>

<file path=ppt/slides/slide9.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04C8F3-30D6-43FA-9419-FC5E2935100D}"/>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THE CONVERSATION</a:t>
            </a:r>
          </a:p>
        </p:txBody>
      </p:sp>
      <p:sp>
        <p:nvSpPr>
          <p:cNvPr id="2" name="">
            <a:extLst xmlns:a="http://schemas.openxmlformats.org/drawingml/2006/main">
              <a:ext uri="{FF2B5EF4-FFF2-40B4-BE49-F238E27FC236}">
                <a16:creationId xmlns:a16="http://schemas.microsoft.com/office/drawing/2014/main" id="{7704FE36-D3D3-40A6-815B-B19DA38585CA}"/>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Would your coaches use this next week?</a:t>
            </a:r>
          </a:p>
        </p:txBody>
      </p:sp>
      <p:sp>
        <p:nvSpPr>
          <p:cNvPr id="3" name="">
            <a:extLst xmlns:a="http://schemas.openxmlformats.org/drawingml/2006/main">
              <a:ext uri="{FF2B5EF4-FFF2-40B4-BE49-F238E27FC236}">
                <a16:creationId xmlns:a16="http://schemas.microsoft.com/office/drawing/2014/main" id="{310696EA-35A4-4574-899F-0B7D5B4794A8}"/>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9B10D27B-008F-4F85-93C2-84B05E101089}"/>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09D8241-2D85-4DB2-B680-49FDCB88455B}"/>
              </a:ext>
            </a:extLst>
          </p:cNvPr>
          <p:cNvSpPr>
            <a:spLocks xmlns:a="http://schemas.openxmlformats.org/drawingml/2006/main" noGrp="1"/>
          </p:cNvSpPr>
          <p:nvPr/>
        </p:nvSpPr>
        <p:spPr>
          <a:xfrm xmlns:a="http://schemas.openxmlformats.org/drawingml/2006/main">
            <a:off x="609600" y="2590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28091AF-E455-4CBA-B581-90B2A4894B51}"/>
              </a:ext>
            </a:extLst>
          </p:cNvPr>
          <p:cNvSpPr>
            <a:spLocks xmlns:a="http://schemas.openxmlformats.org/drawingml/2006/main" noGrp="1"/>
          </p:cNvSpPr>
          <p:nvPr/>
        </p:nvSpPr>
        <p:spPr>
          <a:xfrm xmlns:a="http://schemas.openxmlformats.org/drawingml/2006/main">
            <a:off x="1581150" y="26289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How do questions get handled after class today?</a:t>
            </a:r>
          </a:p>
        </p:txBody>
      </p:sp>
      <p:sp>
        <p:nvSpPr>
          <p:cNvPr id="7" name="">
            <a:extLst xmlns:a="http://schemas.openxmlformats.org/drawingml/2006/main">
              <a:ext uri="{FF2B5EF4-FFF2-40B4-BE49-F238E27FC236}">
                <a16:creationId xmlns:a16="http://schemas.microsoft.com/office/drawing/2014/main" id="{FA6A2D78-7C50-452D-9666-D65A54AA7D4A}"/>
              </a:ext>
            </a:extLst>
          </p:cNvPr>
          <p:cNvSpPr>
            <a:spLocks xmlns:a="http://schemas.openxmlformats.org/drawingml/2006/main" noGrp="1"/>
          </p:cNvSpPr>
          <p:nvPr/>
        </p:nvSpPr>
        <p:spPr>
          <a:xfrm xmlns:a="http://schemas.openxmlformats.org/drawingml/2006/main">
            <a:off x="609600" y="35814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F962888-28DD-49BB-A065-AD0CAA808EF9}"/>
              </a:ext>
            </a:extLst>
          </p:cNvPr>
          <p:cNvSpPr>
            <a:spLocks xmlns:a="http://schemas.openxmlformats.org/drawingml/2006/main" noGrp="1"/>
          </p:cNvSpPr>
          <p:nvPr/>
        </p:nvSpPr>
        <p:spPr>
          <a:xfrm xmlns:a="http://schemas.openxmlformats.org/drawingml/2006/main">
            <a:off x="1581150" y="36195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Which coach would own the queue?</a:t>
            </a:r>
          </a:p>
        </p:txBody>
      </p:sp>
      <p:sp>
        <p:nvSpPr>
          <p:cNvPr id="9" name="">
            <a:extLst xmlns:a="http://schemas.openxmlformats.org/drawingml/2006/main">
              <a:ext uri="{FF2B5EF4-FFF2-40B4-BE49-F238E27FC236}">
                <a16:creationId xmlns:a16="http://schemas.microsoft.com/office/drawing/2014/main" id="{72CD6A12-0709-42B1-A1A9-4288D3520CAD}"/>
              </a:ext>
            </a:extLst>
          </p:cNvPr>
          <p:cNvSpPr>
            <a:spLocks xmlns:a="http://schemas.openxmlformats.org/drawingml/2006/main" noGrp="1"/>
          </p:cNvSpPr>
          <p:nvPr/>
        </p:nvSpPr>
        <p:spPr>
          <a:xfrm xmlns:a="http://schemas.openxmlformats.org/drawingml/2006/main">
            <a:off x="609600" y="45720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D87095A-F712-41AE-9A04-DA0898BCC4E0}"/>
              </a:ext>
            </a:extLst>
          </p:cNvPr>
          <p:cNvSpPr>
            <a:spLocks xmlns:a="http://schemas.openxmlformats.org/drawingml/2006/main" noGrp="1"/>
          </p:cNvSpPr>
          <p:nvPr/>
        </p:nvSpPr>
        <p:spPr>
          <a:xfrm xmlns:a="http://schemas.openxmlformats.org/drawingml/2006/main">
            <a:off x="1581150" y="4610100"/>
            <a:ext cx="981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What would make a short pilot worth paying for?</a:t>
            </a:r>
          </a:p>
        </p:txBody>
      </p:sp>
    </p:spTree>
    <p:extLst>
      <p:ext uri="{BB962C8B-B14F-4D97-AF65-F5344CB8AC3E}">
        <p14:creationId xmlns:p14="http://schemas.microsoft.com/office/powerpoint/2010/main" val="1210754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2026-09-28T14:05:48.4570000Z</dcterms:created>
  <dcterms:modified xsi:type="dcterms:W3CDTF">2026-09-28T14:05:48.4570000Z</dcterms:modified>
</coreProperties>
</file>