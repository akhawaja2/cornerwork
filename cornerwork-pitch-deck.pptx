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af4812e5b5047ac" /><Relationship Type="http://schemas.openxmlformats.org/officeDocument/2006/relationships/extended-properties" Target="/docProps/app.xml" Id="Racab0eaa9058411c" /><Relationship Type="http://schemas.openxmlformats.org/officeDocument/2006/relationships/officeDocument" Target="/ppt/presentation.xml" Id="R6cf17c0697e54944" /></Relationships>
</file>

<file path=ppt/presentation.xml><?xml version="1.0" encoding="utf-8"?>
<p:presentation xmlns:p="http://schemas.openxmlformats.org/presentationml/2006/main">
  <p:sldMasterIdLst>
    <p:sldMasterId xmlns:r="http://schemas.openxmlformats.org/officeDocument/2006/relationships" id="2147483648" r:id="Rfa4879f0bb58431e"/>
  </p:sldMasterIdLst>
  <p:notesMasterIdLst>
    <p:notesMasterId xmlns:r="http://schemas.openxmlformats.org/officeDocument/2006/relationships" r:id="R33f573273a7a49ad"/>
  </p:notesMasterIdLst>
  <p:sldIdLst>
    <p:sldId xmlns:r="http://schemas.openxmlformats.org/officeDocument/2006/relationships" id="256" r:id="R98a508dd5bcb4b4b"/>
    <p:sldId xmlns:r="http://schemas.openxmlformats.org/officeDocument/2006/relationships" id="257" r:id="R1f9a2aae488541f7"/>
    <p:sldId xmlns:r="http://schemas.openxmlformats.org/officeDocument/2006/relationships" id="258" r:id="R21cf608c06754fa9"/>
    <p:sldId xmlns:r="http://schemas.openxmlformats.org/officeDocument/2006/relationships" id="259" r:id="R2b879226ca22407a"/>
    <p:sldId xmlns:r="http://schemas.openxmlformats.org/officeDocument/2006/relationships" id="260" r:id="R4cc6c93162ee4323"/>
    <p:sldId xmlns:r="http://schemas.openxmlformats.org/officeDocument/2006/relationships" id="261" r:id="Rc51dfd66b7ac4dc3"/>
    <p:sldId xmlns:r="http://schemas.openxmlformats.org/officeDocument/2006/relationships" id="262" r:id="Rd6e8531e92654fc2"/>
    <p:sldId xmlns:r="http://schemas.openxmlformats.org/officeDocument/2006/relationships" id="263" r:id="Rfc38945a396d42b3"/>
    <p:sldId xmlns:r="http://schemas.openxmlformats.org/officeDocument/2006/relationships" id="264" r:id="Rb134056f129d4c17"/>
    <p:sldId xmlns:r="http://schemas.openxmlformats.org/officeDocument/2006/relationships" id="265" r:id="R4967e4d676fa4983"/>
    <p:sldId xmlns:r="http://schemas.openxmlformats.org/officeDocument/2006/relationships" id="266" r:id="Rb654433b7c0f49f1"/>
    <p:sldId xmlns:r="http://schemas.openxmlformats.org/officeDocument/2006/relationships" id="267" r:id="R4295e79355d94e01"/>
    <p:sldId xmlns:r="http://schemas.openxmlformats.org/officeDocument/2006/relationships" id="268" r:id="Ra333e15fdc144c31"/>
    <p:sldId xmlns:r="http://schemas.openxmlformats.org/officeDocument/2006/relationships" id="269" r:id="R66ce5955e7fe4a7b"/>
    <p:sldId xmlns:r="http://schemas.openxmlformats.org/officeDocument/2006/relationships" id="270" r:id="Ra7392ca669bd409e"/>
    <p:sldId xmlns:r="http://schemas.openxmlformats.org/officeDocument/2006/relationships" id="271" r:id="Reee73b69d4bb48ec"/>
    <p:sldId xmlns:r="http://schemas.openxmlformats.org/officeDocument/2006/relationships" id="272" r:id="R8d0f3b12f2ae48e6"/>
    <p:sldId xmlns:r="http://schemas.openxmlformats.org/officeDocument/2006/relationships" id="273" r:id="R591d373e14d947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7ca0c070a742dc" /><Relationship Type="http://schemas.openxmlformats.org/officeDocument/2006/relationships/slideMaster" Target="/ppt/slideMasters/slideMaster1.xml" Id="Rfa4879f0bb58431e" /><Relationship Type="http://schemas.openxmlformats.org/officeDocument/2006/relationships/notesMaster" Target="/ppt/notesMasters/notesMaster1.xml" Id="R33f573273a7a49ad" /><Relationship Type="http://schemas.openxmlformats.org/officeDocument/2006/relationships/presProps" Target="/ppt/presProps.xml" Id="Rae1283180d21492f" /><Relationship Type="http://schemas.openxmlformats.org/officeDocument/2006/relationships/tableStyles" Target="/ppt/tableStyles.xml" Id="R7031910b7d2e4277" /><Relationship Type="http://schemas.openxmlformats.org/officeDocument/2006/relationships/slide" Target="/ppt/slides/slide1.xml" Id="R98a508dd5bcb4b4b" /><Relationship Type="http://schemas.openxmlformats.org/officeDocument/2006/relationships/slide" Target="/ppt/slides/slide2.xml" Id="R1f9a2aae488541f7" /><Relationship Type="http://schemas.openxmlformats.org/officeDocument/2006/relationships/slide" Target="/ppt/slides/slide3.xml" Id="R21cf608c06754fa9" /><Relationship Type="http://schemas.openxmlformats.org/officeDocument/2006/relationships/slide" Target="/ppt/slides/slide4.xml" Id="R2b879226ca22407a" /><Relationship Type="http://schemas.openxmlformats.org/officeDocument/2006/relationships/slide" Target="/ppt/slides/slide5.xml" Id="R4cc6c93162ee4323" /><Relationship Type="http://schemas.openxmlformats.org/officeDocument/2006/relationships/slide" Target="/ppt/slides/slide6.xml" Id="Rc51dfd66b7ac4dc3" /><Relationship Type="http://schemas.openxmlformats.org/officeDocument/2006/relationships/slide" Target="/ppt/slides/slide7.xml" Id="Rd6e8531e92654fc2" /><Relationship Type="http://schemas.openxmlformats.org/officeDocument/2006/relationships/slide" Target="/ppt/slides/slide8.xml" Id="Rfc38945a396d42b3" /><Relationship Type="http://schemas.openxmlformats.org/officeDocument/2006/relationships/slide" Target="/ppt/slides/slide9.xml" Id="Rb134056f129d4c17" /><Relationship Type="http://schemas.openxmlformats.org/officeDocument/2006/relationships/slide" Target="/ppt/slides/slide10.xml" Id="R4967e4d676fa4983" /><Relationship Type="http://schemas.openxmlformats.org/officeDocument/2006/relationships/slide" Target="/ppt/slides/slide11.xml" Id="Rb654433b7c0f49f1" /><Relationship Type="http://schemas.openxmlformats.org/officeDocument/2006/relationships/slide" Target="/ppt/slides/slide12.xml" Id="R4295e79355d94e01" /><Relationship Type="http://schemas.openxmlformats.org/officeDocument/2006/relationships/slide" Target="/ppt/slides/slide13.xml" Id="Ra333e15fdc144c31" /><Relationship Type="http://schemas.openxmlformats.org/officeDocument/2006/relationships/slide" Target="/ppt/slides/slide14.xml" Id="R66ce5955e7fe4a7b" /><Relationship Type="http://schemas.openxmlformats.org/officeDocument/2006/relationships/slide" Target="/ppt/slides/slide15.xml" Id="Ra7392ca669bd409e" /><Relationship Type="http://schemas.openxmlformats.org/officeDocument/2006/relationships/slide" Target="/ppt/slides/slide16.xml" Id="Reee73b69d4bb48ec" /><Relationship Type="http://schemas.openxmlformats.org/officeDocument/2006/relationships/slide" Target="/ppt/slides/slide17.xml" Id="R8d0f3b12f2ae48e6" /><Relationship Type="http://schemas.openxmlformats.org/officeDocument/2006/relationships/slide" Target="/ppt/slides/slide18.xml" Id="R591d373e14d947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624641ba1141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2c7c86c4464bc3" /><Relationship Type="http://schemas.openxmlformats.org/officeDocument/2006/relationships/notesMaster" Target="/ppt/notesMasters/notesMaster1.xml" Id="Rd8543c59ac1448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e80063e35e40b0" /><Relationship Type="http://schemas.openxmlformats.org/officeDocument/2006/relationships/notesMaster" Target="/ppt/notesMasters/notesMaster1.xml" Id="Rc5d9fbb558ce4d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a20d5eba02478f" /><Relationship Type="http://schemas.openxmlformats.org/officeDocument/2006/relationships/notesMaster" Target="/ppt/notesMasters/notesMaster1.xml" Id="Rb9f779b2cd1342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076ac88a154a7b" /><Relationship Type="http://schemas.openxmlformats.org/officeDocument/2006/relationships/notesMaster" Target="/ppt/notesMasters/notesMaster1.xml" Id="R667bbd0ddc4245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b3dee118ae4396" /><Relationship Type="http://schemas.openxmlformats.org/officeDocument/2006/relationships/notesMaster" Target="/ppt/notesMasters/notesMaster1.xml" Id="Red83bd9a140b47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82bbea35eb43d4" /><Relationship Type="http://schemas.openxmlformats.org/officeDocument/2006/relationships/notesMaster" Target="/ppt/notesMasters/notesMaster1.xml" Id="R312f3ec4377048a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7e923f82234536" /><Relationship Type="http://schemas.openxmlformats.org/officeDocument/2006/relationships/notesMaster" Target="/ppt/notesMasters/notesMaster1.xml" Id="Rb36c0626d7394f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6a0942f79e42c3" /><Relationship Type="http://schemas.openxmlformats.org/officeDocument/2006/relationships/notesMaster" Target="/ppt/notesMasters/notesMaster1.xml" Id="R4a8357dd48e14f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7fce574a2844da" /><Relationship Type="http://schemas.openxmlformats.org/officeDocument/2006/relationships/notesMaster" Target="/ppt/notesMasters/notesMaster1.xml" Id="Rd13a8bab466e49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590bb97b2443a1" /><Relationship Type="http://schemas.openxmlformats.org/officeDocument/2006/relationships/notesMaster" Target="/ppt/notesMasters/notesMaster1.xml" Id="Rc13e69ae915344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05bf07c34e459b" /><Relationship Type="http://schemas.openxmlformats.org/officeDocument/2006/relationships/notesMaster" Target="/ppt/notesMasters/notesMaster1.xml" Id="Re090304905c54a6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7c5268ea404887" /><Relationship Type="http://schemas.openxmlformats.org/officeDocument/2006/relationships/notesMaster" Target="/ppt/notesMasters/notesMaster1.xml" Id="R675686fe34aa436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c9ca1c06574009" /><Relationship Type="http://schemas.openxmlformats.org/officeDocument/2006/relationships/notesMaster" Target="/ppt/notesMasters/notesMaster1.xml" Id="R3947e5c9edab4ea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bb237cf83294fc1" /><Relationship Type="http://schemas.openxmlformats.org/officeDocument/2006/relationships/notesMaster" Target="/ppt/notesMasters/notesMaster1.xml" Id="R2a797a7b7b194f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d112d25392a4256" /><Relationship Type="http://schemas.openxmlformats.org/officeDocument/2006/relationships/notesMaster" Target="/ppt/notesMasters/notesMaster1.xml" Id="R8b302e3d95834f4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e42dbe637c2425a" /><Relationship Type="http://schemas.openxmlformats.org/officeDocument/2006/relationships/notesMaster" Target="/ppt/notesMasters/notesMaster1.xml" Id="R1e7d7b9407244ea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558ec9b55904cee" /><Relationship Type="http://schemas.openxmlformats.org/officeDocument/2006/relationships/notesMaster" Target="/ppt/notesMasters/notesMaster1.xml" Id="Re0fcd310e4ce4ef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81f42ed5c764f2f" /><Relationship Type="http://schemas.openxmlformats.org/officeDocument/2006/relationships/notesMaster" Target="/ppt/notesMasters/notesMaster1.xml" Id="R3414f0b401764c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This is a local prototype of a class-to-class coaching loop. All athletes are fictional. Messages stay on this computer. We want to learn whether this fits how your coaches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Contextualizes the original problem slide without repeating unverified industry percentages. This is the problem hypothesis to discuss, not a measured Cornerwork retention result. Ask for a recent example from the gym.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Preserves the original human-coaching rationale. Community, progress and accountability are value hypotheses here; we are not claiming a proven retention effect or repeating unsourced survey/injury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Replaces the original assertion that gym software only handles billing. Gymdesk already supports notes, tasks and skills; PushPress offers Member Intel. The proposed differentiation is the complete feedback-to-human-response-to-next-class loop, which needs validation. Sources: https://docs.gymdesk.com/en/help/docs/member-profile ; https://docs.gymdesk.com/en/help/docs/skills ; https://www.pushpress.com/features/member-intel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intended flow before opening the app. The attendance connection, actual messages and audio are not live. The inbox, stored responses and class brief are working local features. Anonymous dashboard omitted by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Demo tools, After class, Run due jobs. Current scheduler uses stored bookings or attendance and an explicit job clock; it is not attendance-only. Target integration must verify attendance and class end, suppress no-shows/cancellations and deduplicate. The quoted nudge is illustrative, not a claim about exact current message wording. Confirm Gymdesk Check-In payload and class-end lookup before promising automation.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Demo tools select Maya Chen, choose Voice note — typed transcript simulation, and enter: My jab felt sharper, but I keep getting countered as I step out. What should I focus on next class? Send into demo. A supplied transcript stands in for audio; there is no microphone or transcription service. This example is fictional and not a customer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Coach inbox. Find the newly submitted log, expand the original, write a short reply and send. Show its simulated conversation in Demo tools. Rules-based summaries are aids only; the human coach decides what to send. Screenshot is from the local app with fictional seed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Before class. Select the class the same athlete is booked into and refresh. Show their recent context, relevant flags and common themes. A new log does not enroll a member. The current brief uses recent logs from the last seven days and stored bookings, not live provider data. Shared clock and attendance connection are not implemented. Screenshot is actual local app, fictional athletes.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assessment, not an implementation estimate. Proposed scope: read members, class rosters and verified attendance into a common internal model; retain conversations and coaching history in Cornerwork. Do not require payment, booking or membership write-back for the initial coaching loop. Gymdesk documents Zapier Check-In triggers and member/booking/attendance searches; verify class linkage, end time, filters, delivery timing and production-scale access with a cooperating gym. A public direct Gymdesk API is not assumed. Mindbody documents APIs and roster webhooks; live developer approval and business activation are required. Production work includes stable provider IDs per gym, deduplication, missed-event reconciliation, cancellations/no-shows, time zones, credential changes, access separation and monitoring. Validate API/Zapier costs and terms before committing to pricing or a launch date. Difficulty: a narrow proof of concept is manageable; dependable multi-gym operation is a substantial integration and maintenance effort. No live integration is implemented in the current demo. Sources verified 2026-09-28: https://docs.gymdesk.com/en/help/docs/zapier and https://developers.mindbodyonline.com/WebhooksDocumentation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sources accessed 2026-09-28: https://docs.gymdesk.com/en/help/docs/zapier (Check-In trigger, Get Bookings/Get Attendance); https://developers.mindbodyonline.com/WebhooksDocumentation (class roster events and SignedIn status). These are candidate integration paths, not connected integrations. Verify permission, identifiers, class-end data, retries, cancellations and timezone behavior using a partner gym and test adults before any live member rollout. Mindbody sandbox API availability does not prove live webhook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the clear scope boundary. Working locally: message intake, stored logs, coach queue and reply, computed class brief, explicit scheduled-job runner. Simulations: voice transcript, summaries and outbound messages. Before a live pilot: real attendance-only logic, SMS delivery and consent handling, actual audio intake/transcription, authentication and permission isolation, production scheduling and operational support. No retention lift or time-savings claims have been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Replaces the original $25 member / $10 coach / $5 platform split. $50–100 per gym per month and optional $10 member pricing are hypotheses from the current discussion, not a finalized offer. Scope and usage limits must reflect messaging, transcription, support and integration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Preserves the original coach-adoption section without promising one hour per week, $150 pay or a 48-hour SLA. Time, compensation and response cadence require agreement with each pilot gym. Measure rather than assume.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Updates the original trust section as pilot requirements, not completed production safeguards. Local consent commands exist, but no real authentication or permission isolation exists. Before live use establish access controls, opt-out handling, data retention and export/deletion policies. Injury information must not be treated as an automated diagnosis. Anonymous/owner dashboard remains out of current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background carried from the user-supplied original pitch deck, not independently verified. Removed the broken founder-photo placeholder rather than inventing a portrait. Original background: nationally ranked Muay Thai fighter, 9-1-1; about ten years of Muay Thai, BJJ and wrestling; senior software engineer in AI and data systems.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Retains the original founding-gym invitation, reframed as a proposed pilot. No three-month waiver, lifetime rate or live-within-a-week promise is approved. Agree duration, price, scope, delivery and staff responsibility before starting. Small pilots measure usage and feasibility, not causal retention 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for a concrete example before pitching price: Tell me about the last member question that got lost after class. Who would own this queue? Would the next coach actually read the brief? Ask permission for a follow-up observation or a tightly scoped pilot; do not promise a start date or free period. If pricing comes up, $50–100 per gym per month is a hypothesis to test, not an approved offer. Optional $10 member resale needs its own demand and coach-labor test. Do not claim ten members means economic break-even.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0951d7d9ea40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490997f6fb47be" /><Relationship Type="http://schemas.openxmlformats.org/officeDocument/2006/relationships/slideLayout" Target="/ppt/slideLayouts/slideLayout1.xml" Id="Rb4205e53bb1c46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205e53bb1c46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190987554bd41d5" /><Relationship Type="http://schemas.openxmlformats.org/officeDocument/2006/relationships/notesSlide" Target="/ppt/notesSlides/notesSlide1.xml" Id="R5cee72e5ec0345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a3de2f44add4a4a" /><Relationship Type="http://schemas.openxmlformats.org/officeDocument/2006/relationships/notesSlide" Target="/ppt/notesSlides/notesSlide2.xml" Id="R2b49a29dbb304a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99009db5f2b48e4" /><Relationship Type="http://schemas.openxmlformats.org/officeDocument/2006/relationships/notesSlide" Target="/ppt/notesSlides/notesSlide3.xml" Id="R6d98c65920ef47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10680d786d24200" /><Relationship Type="http://schemas.openxmlformats.org/officeDocument/2006/relationships/notesSlide" Target="/ppt/notesSlides/notesSlide4.xml" Id="Rbe4ba1c4259940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b325a77c9494bea" /><Relationship Type="http://schemas.openxmlformats.org/officeDocument/2006/relationships/notesSlide" Target="/ppt/notesSlides/notesSlide5.xml" Id="R0b200bd9fbe24c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40289ffc41e4b28" /><Relationship Type="http://schemas.openxmlformats.org/officeDocument/2006/relationships/notesSlide" Target="/ppt/notesSlides/notesSlide6.xml" Id="R3f927651b2b949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027adee1054e59" /><Relationship Type="http://schemas.openxmlformats.org/officeDocument/2006/relationships/notesSlide" Target="/ppt/notesSlides/notesSlide7.xml" Id="Rdab7f012b2ab40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47c92589fe44b84" /><Relationship Type="http://schemas.openxmlformats.org/officeDocument/2006/relationships/image" Target="/ppt/media/image.png" Id="R8ccccd5c580648ef" /><Relationship Type="http://schemas.openxmlformats.org/officeDocument/2006/relationships/notesSlide" Target="/ppt/notesSlides/notesSlide8.xml" Id="R6eeaf3251f9b4a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a065d4dce074d84" /><Relationship Type="http://schemas.openxmlformats.org/officeDocument/2006/relationships/image" Target="/ppt/media/image2.png" Id="Rfa19feb20ec94d7a" /><Relationship Type="http://schemas.openxmlformats.org/officeDocument/2006/relationships/notesSlide" Target="/ppt/notesSlides/notesSlide9.xml" Id="R7e8984f01ad64c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5e5d7e4b21d4d13" /><Relationship Type="http://schemas.openxmlformats.org/officeDocument/2006/relationships/notesSlide" Target="/ppt/notesSlides/notesSlide10.xml" Id="Rdc08afd9499a4a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fed8a3813744942" /><Relationship Type="http://schemas.openxmlformats.org/officeDocument/2006/relationships/notesSlide" Target="/ppt/notesSlides/notesSlide11.xml" Id="R566070ef70b44c9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3d6e49c24b74f4e" /><Relationship Type="http://schemas.openxmlformats.org/officeDocument/2006/relationships/notesSlide" Target="/ppt/notesSlides/notesSlide12.xml" Id="Rbbb16a30bdd44f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9d7124c248547cd" /><Relationship Type="http://schemas.openxmlformats.org/officeDocument/2006/relationships/notesSlide" Target="/ppt/notesSlides/notesSlide13.xml" Id="Ra9bd86205e134a3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72c8cc1b99f4d75" /><Relationship Type="http://schemas.openxmlformats.org/officeDocument/2006/relationships/notesSlide" Target="/ppt/notesSlides/notesSlide14.xml" Id="Rbc814130022c43d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c162eb7ba4d4d93" /><Relationship Type="http://schemas.openxmlformats.org/officeDocument/2006/relationships/notesSlide" Target="/ppt/notesSlides/notesSlide15.xml" Id="Reb7ea6ff33194da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dd060fd32254b2a" /><Relationship Type="http://schemas.openxmlformats.org/officeDocument/2006/relationships/notesSlide" Target="/ppt/notesSlides/notesSlide16.xml" Id="R172e6dfb1e5c41b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e537a49c68b4e3e" /><Relationship Type="http://schemas.openxmlformats.org/officeDocument/2006/relationships/notesSlide" Target="/ppt/notesSlides/notesSlide17.xml" Id="R53e04387ec134fc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ead6f866dd74c36" /><Relationship Type="http://schemas.openxmlformats.org/officeDocument/2006/relationships/notesSlide" Target="/ppt/notesSlides/notesSlide18.xml" Id="Rea48b7b5bbed466d" /></Relationships>
</file>

<file path=ppt/slides/slide1.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42EBBF-E32A-4696-8DC4-B8A5A93500EE}"/>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1D0C4"/>
                </a:solidFill>
                <a:latin typeface="Arial"/>
                <a:ea typeface="Arial"/>
                <a:cs typeface="Arial"/>
              </a:defRPr>
            </a:pPr>
            <a:r>
              <a:rPr sz="1125" b="1">
                <a:solidFill>
                  <a:srgbClr val="91D0C4"/>
                </a:solidFill>
                <a:latin typeface="Arial"/>
                <a:ea typeface="Arial"/>
                <a:cs typeface="Arial"/>
              </a:rPr>
              <a:t>CORNERWORK  /  FOUNDING GYM PROGRAM</a:t>
            </a:r>
          </a:p>
        </p:txBody>
      </p:sp>
      <p:sp>
        <p:nvSpPr>
          <p:cNvPr id="2" name="">
            <a:extLst xmlns:a="http://schemas.openxmlformats.org/drawingml/2006/main">
              <a:ext uri="{FF2B5EF4-FFF2-40B4-BE49-F238E27FC236}">
                <a16:creationId xmlns:a16="http://schemas.microsoft.com/office/drawing/2014/main" id="{CDBC20F8-3871-4864-89B8-48B1C24ED300}"/>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1D0C4"/>
                </a:solidFill>
                <a:latin typeface="Arial"/>
                <a:ea typeface="Arial"/>
                <a:cs typeface="Arial"/>
              </a:defRPr>
            </a:pPr>
            <a:r>
              <a:rPr sz="900" b="0">
                <a:solidFill>
                  <a:srgbClr val="91D0C4"/>
                </a:solidFill>
                <a:latin typeface="Arial"/>
                <a:ea typeface="Arial"/>
                <a:cs typeface="Arial"/>
              </a:rPr>
              <a:t>CORNERWORK  /  FOUNDING GYM CONVERSATION</a:t>
            </a:r>
          </a:p>
        </p:txBody>
      </p:sp>
      <p:sp>
        <p:nvSpPr>
          <p:cNvPr id="3" name="">
            <a:extLst xmlns:a="http://schemas.openxmlformats.org/drawingml/2006/main">
              <a:ext uri="{FF2B5EF4-FFF2-40B4-BE49-F238E27FC236}">
                <a16:creationId xmlns:a16="http://schemas.microsoft.com/office/drawing/2014/main" id="{ECBA6C15-322B-4FB9-8899-FCC77931BA77}"/>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1D0C4"/>
                </a:solidFill>
                <a:latin typeface="Arial"/>
                <a:ea typeface="Arial"/>
                <a:cs typeface="Arial"/>
              </a:defRPr>
            </a:pPr>
            <a:r>
              <a:rPr sz="1050" b="0">
                <a:solidFill>
                  <a:srgbClr val="91D0C4"/>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2F21167C-F634-44CE-9A44-7FE8D138A6FC}"/>
              </a:ext>
            </a:extLst>
          </p:cNvPr>
          <p:cNvSpPr>
            <a:spLocks xmlns:a="http://schemas.openxmlformats.org/drawingml/2006/main" noGrp="1"/>
          </p:cNvSpPr>
          <p:nvPr/>
        </p:nvSpPr>
        <p:spPr>
          <a:xfrm xmlns:a="http://schemas.openxmlformats.org/drawingml/2006/main">
            <a:off x="609600" y="1504950"/>
            <a:ext cx="1076325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91D0C4"/>
                </a:solidFill>
                <a:latin typeface="Arial"/>
                <a:ea typeface="Arial"/>
                <a:cs typeface="Arial"/>
              </a:defRPr>
            </a:pPr>
            <a:r>
              <a:rPr sz="6600" b="1">
                <a:solidFill>
                  <a:srgbClr val="91D0C4"/>
                </a:solidFill>
                <a:latin typeface="Arial"/>
                <a:ea typeface="Arial"/>
                <a:cs typeface="Arial"/>
              </a:rPr>
              <a:t>Your coach,</a:t>
            </a:r>
          </a:p>
          <a:p xmlns:a="http://schemas.openxmlformats.org/drawingml/2006/main">
            <a:pPr>
              <a:defRPr sz="6600" b="1">
                <a:solidFill>
                  <a:srgbClr val="91D0C4"/>
                </a:solidFill>
                <a:latin typeface="Arial"/>
                <a:ea typeface="Arial"/>
                <a:cs typeface="Arial"/>
              </a:defRPr>
            </a:pPr>
            <a:r>
              <a:rPr sz="6600" b="1">
                <a:solidFill>
                  <a:srgbClr val="91D0C4"/>
                </a:solidFill>
                <a:latin typeface="Arial"/>
                <a:ea typeface="Arial"/>
                <a:cs typeface="Arial"/>
              </a:rPr>
              <a:t>between classes.</a:t>
            </a:r>
          </a:p>
        </p:txBody>
      </p:sp>
      <p:sp>
        <p:nvSpPr>
          <p:cNvPr id="5" name="">
            <a:extLst xmlns:a="http://schemas.openxmlformats.org/drawingml/2006/main">
              <a:ext uri="{FF2B5EF4-FFF2-40B4-BE49-F238E27FC236}">
                <a16:creationId xmlns:a16="http://schemas.microsoft.com/office/drawing/2014/main" id="{5B7A1BFA-B9BE-41A2-A3E2-CD094FE2C253}"/>
              </a:ext>
            </a:extLst>
          </p:cNvPr>
          <p:cNvSpPr>
            <a:spLocks xmlns:a="http://schemas.openxmlformats.org/drawingml/2006/main" noGrp="1"/>
          </p:cNvSpPr>
          <p:nvPr/>
        </p:nvSpPr>
        <p:spPr>
          <a:xfrm xmlns:a="http://schemas.openxmlformats.org/drawingml/2006/main">
            <a:off x="647700" y="4248150"/>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4F1E9"/>
                </a:solidFill>
                <a:latin typeface="Arial"/>
                <a:ea typeface="Arial"/>
                <a:cs typeface="Arial"/>
              </a:defRPr>
            </a:pPr>
            <a:r>
              <a:rPr sz="2550" b="0">
                <a:solidFill>
                  <a:srgbClr val="F4F1E9"/>
                </a:solidFill>
                <a:latin typeface="Arial"/>
                <a:ea typeface="Arial"/>
                <a:cs typeface="Arial"/>
              </a:rPr>
              <a:t>A member speaks up. A coach responds.</a:t>
            </a:r>
          </a:p>
          <a:p xmlns:a="http://schemas.openxmlformats.org/drawingml/2006/main">
            <a:pPr>
              <a:defRPr sz="2550" b="0">
                <a:solidFill>
                  <a:srgbClr val="F4F1E9"/>
                </a:solidFill>
                <a:latin typeface="Arial"/>
                <a:ea typeface="Arial"/>
                <a:cs typeface="Arial"/>
              </a:defRPr>
            </a:pPr>
            <a:r>
              <a:rPr sz="2550" b="0">
                <a:solidFill>
                  <a:srgbClr val="F4F1E9"/>
                </a:solidFill>
                <a:latin typeface="Arial"/>
                <a:ea typeface="Arial"/>
                <a:cs typeface="Arial"/>
              </a:rPr>
              <a:t>The next class starts with context.</a:t>
            </a:r>
          </a:p>
        </p:txBody>
      </p:sp>
      <p:sp>
        <p:nvSpPr>
          <p:cNvPr id="6" name="">
            <a:extLst xmlns:a="http://schemas.openxmlformats.org/drawingml/2006/main">
              <a:ext uri="{FF2B5EF4-FFF2-40B4-BE49-F238E27FC236}">
                <a16:creationId xmlns:a16="http://schemas.microsoft.com/office/drawing/2014/main" id="{6EB3D01F-C733-4DA5-A131-B0C08FB02E17}"/>
              </a:ext>
            </a:extLst>
          </p:cNvPr>
          <p:cNvSpPr>
            <a:spLocks xmlns:a="http://schemas.openxmlformats.org/drawingml/2006/main" noGrp="1"/>
          </p:cNvSpPr>
          <p:nvPr/>
        </p:nvSpPr>
        <p:spPr>
          <a:xfrm xmlns:a="http://schemas.openxmlformats.org/drawingml/2006/main">
            <a:off x="647700" y="57435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91D0C4"/>
                </a:solidFill>
                <a:latin typeface="Arial"/>
                <a:ea typeface="Arial"/>
                <a:cs typeface="Arial"/>
              </a:defRPr>
            </a:pPr>
            <a:r>
              <a:rPr sz="1275" b="1">
                <a:solidFill>
                  <a:srgbClr val="91D0C4"/>
                </a:solidFill>
                <a:latin typeface="Arial"/>
                <a:ea typeface="Arial"/>
                <a:cs typeface="Arial"/>
              </a:rPr>
              <a:t>PRODUCT VISION + LOCAL DEMO</a:t>
            </a:r>
          </a:p>
        </p:txBody>
      </p:sp>
    </p:spTree>
    <p:extLst>
      <p:ext uri="{BB962C8B-B14F-4D97-AF65-F5344CB8AC3E}">
        <p14:creationId xmlns:p14="http://schemas.microsoft.com/office/powerpoint/2010/main" val="890967541"/>
      </p:ext>
    </p:extLst>
  </p:cSld>
</p:sld>
</file>

<file path=ppt/slides/slide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9B97B7-81D4-4623-875A-409510D01051}"/>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THE PROBLEM</a:t>
            </a:r>
          </a:p>
        </p:txBody>
      </p:sp>
      <p:sp>
        <p:nvSpPr>
          <p:cNvPr id="2" name="">
            <a:extLst xmlns:a="http://schemas.openxmlformats.org/drawingml/2006/main">
              <a:ext uri="{FF2B5EF4-FFF2-40B4-BE49-F238E27FC236}">
                <a16:creationId xmlns:a16="http://schemas.microsoft.com/office/drawing/2014/main" id="{D0648A7F-2EE2-44C1-87FD-BF992BFD3064}"/>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Members can drift before anyone notices.</a:t>
            </a:r>
          </a:p>
        </p:txBody>
      </p:sp>
      <p:sp>
        <p:nvSpPr>
          <p:cNvPr id="3" name="">
            <a:extLst xmlns:a="http://schemas.openxmlformats.org/drawingml/2006/main">
              <a:ext uri="{FF2B5EF4-FFF2-40B4-BE49-F238E27FC236}">
                <a16:creationId xmlns:a16="http://schemas.microsoft.com/office/drawing/2014/main" id="{610F57E4-80B2-4707-93B9-1D1E52044545}"/>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CORNERWORK  /  FOUNDING GYM CONVERSATION</a:t>
            </a:r>
          </a:p>
        </p:txBody>
      </p:sp>
      <p:sp>
        <p:nvSpPr>
          <p:cNvPr id="4" name="">
            <a:extLst xmlns:a="http://schemas.openxmlformats.org/drawingml/2006/main">
              <a:ext uri="{FF2B5EF4-FFF2-40B4-BE49-F238E27FC236}">
                <a16:creationId xmlns:a16="http://schemas.microsoft.com/office/drawing/2014/main" id="{C85538BF-DD10-41BC-9E63-25DF0FC52EC4}"/>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6C5B41C0-2A99-4178-BD75-E9664AD8C50D}"/>
              </a:ext>
            </a:extLst>
          </p:cNvPr>
          <p:cNvSpPr>
            <a:spLocks xmlns:a="http://schemas.openxmlformats.org/drawingml/2006/main" noGrp="1"/>
          </p:cNvSpPr>
          <p:nvPr/>
        </p:nvSpPr>
        <p:spPr>
          <a:xfrm xmlns:a="http://schemas.openxmlformats.org/drawingml/2006/main">
            <a:off x="609600" y="25431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C615A"/>
                </a:solidFill>
                <a:latin typeface="Arial"/>
                <a:ea typeface="Arial"/>
                <a:cs typeface="Arial"/>
              </a:defRPr>
            </a:pPr>
            <a:r>
              <a:rPr sz="2700" b="1">
                <a:solidFill>
                  <a:srgbClr val="0C615A"/>
                </a:solidFill>
                <a:latin typeface="Arial"/>
                <a:ea typeface="Arial"/>
                <a:cs typeface="Arial"/>
              </a:rPr>
              <a:t>A question goes unanswered.</a:t>
            </a:r>
          </a:p>
        </p:txBody>
      </p:sp>
      <p:sp>
        <p:nvSpPr>
          <p:cNvPr id="6" name="">
            <a:extLst xmlns:a="http://schemas.openxmlformats.org/drawingml/2006/main">
              <a:ext uri="{FF2B5EF4-FFF2-40B4-BE49-F238E27FC236}">
                <a16:creationId xmlns:a16="http://schemas.microsoft.com/office/drawing/2014/main" id="{B4336C35-AC4E-44F8-AF98-1FFDC3E3E7D5}"/>
              </a:ext>
            </a:extLst>
          </p:cNvPr>
          <p:cNvSpPr>
            <a:spLocks xmlns:a="http://schemas.openxmlformats.org/drawingml/2006/main" noGrp="1"/>
          </p:cNvSpPr>
          <p:nvPr/>
        </p:nvSpPr>
        <p:spPr>
          <a:xfrm xmlns:a="http://schemas.openxmlformats.org/drawingml/2006/main">
            <a:off x="609600" y="3524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C615A"/>
                </a:solidFill>
                <a:latin typeface="Arial"/>
                <a:ea typeface="Arial"/>
                <a:cs typeface="Arial"/>
              </a:defRPr>
            </a:pPr>
            <a:r>
              <a:rPr sz="2700" b="1">
                <a:solidFill>
                  <a:srgbClr val="0C615A"/>
                </a:solidFill>
                <a:latin typeface="Arial"/>
                <a:ea typeface="Arial"/>
                <a:cs typeface="Arial"/>
              </a:rPr>
              <a:t>A member feels stuck.</a:t>
            </a:r>
          </a:p>
        </p:txBody>
      </p:sp>
      <p:sp>
        <p:nvSpPr>
          <p:cNvPr id="7" name="">
            <a:extLst xmlns:a="http://schemas.openxmlformats.org/drawingml/2006/main">
              <a:ext uri="{FF2B5EF4-FFF2-40B4-BE49-F238E27FC236}">
                <a16:creationId xmlns:a16="http://schemas.microsoft.com/office/drawing/2014/main" id="{C4664B7A-1C25-4667-95CE-7874C0F1311B}"/>
              </a:ext>
            </a:extLst>
          </p:cNvPr>
          <p:cNvSpPr>
            <a:spLocks xmlns:a="http://schemas.openxmlformats.org/drawingml/2006/main" noGrp="1"/>
          </p:cNvSpPr>
          <p:nvPr/>
        </p:nvSpPr>
        <p:spPr>
          <a:xfrm xmlns:a="http://schemas.openxmlformats.org/drawingml/2006/main">
            <a:off x="609600" y="45053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C615A"/>
                </a:solidFill>
                <a:latin typeface="Arial"/>
                <a:ea typeface="Arial"/>
                <a:cs typeface="Arial"/>
              </a:defRPr>
            </a:pPr>
            <a:r>
              <a:rPr sz="2700" b="1">
                <a:solidFill>
                  <a:srgbClr val="0C615A"/>
                </a:solidFill>
                <a:latin typeface="Arial"/>
                <a:ea typeface="Arial"/>
                <a:cs typeface="Arial"/>
              </a:rPr>
              <a:t>The next coach never hears about it.</a:t>
            </a:r>
          </a:p>
        </p:txBody>
      </p:sp>
      <p:sp>
        <p:nvSpPr>
          <p:cNvPr id="8" name="">
            <a:extLst xmlns:a="http://schemas.openxmlformats.org/drawingml/2006/main">
              <a:ext uri="{FF2B5EF4-FFF2-40B4-BE49-F238E27FC236}">
                <a16:creationId xmlns:a16="http://schemas.microsoft.com/office/drawing/2014/main" id="{E687A941-C0B2-4A4F-A43E-A7DCEFA97A76}"/>
              </a:ext>
            </a:extLst>
          </p:cNvPr>
          <p:cNvSpPr>
            <a:spLocks xmlns:a="http://schemas.openxmlformats.org/drawingml/2006/main" noGrp="1"/>
          </p:cNvSpPr>
          <p:nvPr/>
        </p:nvSpPr>
        <p:spPr>
          <a:xfrm xmlns:a="http://schemas.openxmlformats.org/drawingml/2006/main">
            <a:off x="609600" y="56388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Our hypothesis: better follow-up makes coaching feel more continuous.</a:t>
            </a:r>
          </a:p>
        </p:txBody>
      </p:sp>
    </p:spTree>
    <p:extLst>
      <p:ext uri="{BB962C8B-B14F-4D97-AF65-F5344CB8AC3E}">
        <p14:creationId xmlns:p14="http://schemas.microsoft.com/office/powerpoint/2010/main" val="255490817"/>
      </p:ext>
    </p:extLst>
  </p:cSld>
</p:sld>
</file>

<file path=ppt/slides/slide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F64B6EA-8BE8-4AC3-98B1-55F5CB0273DC}"/>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WHAT KEEPS THEM ENGAGED</a:t>
            </a:r>
          </a:p>
        </p:txBody>
      </p:sp>
      <p:sp>
        <p:nvSpPr>
          <p:cNvPr id="2" name="">
            <a:extLst xmlns:a="http://schemas.openxmlformats.org/drawingml/2006/main">
              <a:ext uri="{FF2B5EF4-FFF2-40B4-BE49-F238E27FC236}">
                <a16:creationId xmlns:a16="http://schemas.microsoft.com/office/drawing/2014/main" id="{30DF6510-0A15-4437-B3F2-58722670EEC7}"/>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Help members feel known.</a:t>
            </a:r>
          </a:p>
        </p:txBody>
      </p:sp>
      <p:sp>
        <p:nvSpPr>
          <p:cNvPr id="3" name="">
            <a:extLst xmlns:a="http://schemas.openxmlformats.org/drawingml/2006/main">
              <a:ext uri="{FF2B5EF4-FFF2-40B4-BE49-F238E27FC236}">
                <a16:creationId xmlns:a16="http://schemas.microsoft.com/office/drawing/2014/main" id="{BCBF55C7-543A-4007-8815-04307D014096}"/>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CORNERWORK  /  FOUNDING GYM CONVERSATION</a:t>
            </a:r>
          </a:p>
        </p:txBody>
      </p:sp>
      <p:sp>
        <p:nvSpPr>
          <p:cNvPr id="4" name="">
            <a:extLst xmlns:a="http://schemas.openxmlformats.org/drawingml/2006/main">
              <a:ext uri="{FF2B5EF4-FFF2-40B4-BE49-F238E27FC236}">
                <a16:creationId xmlns:a16="http://schemas.microsoft.com/office/drawing/2014/main" id="{8B60C3F5-0592-4E19-929F-35236272DB1A}"/>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D0A87F75-9CB9-40DD-A8FA-44C1CDD6FF7D}"/>
              </a:ext>
            </a:extLst>
          </p:cNvPr>
          <p:cNvSpPr>
            <a:spLocks xmlns:a="http://schemas.openxmlformats.org/drawingml/2006/main" noGrp="1"/>
          </p:cNvSpPr>
          <p:nvPr/>
        </p:nvSpPr>
        <p:spPr>
          <a:xfrm xmlns:a="http://schemas.openxmlformats.org/drawingml/2006/main">
            <a:off x="609600" y="2476500"/>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C615A"/>
                </a:solidFill>
                <a:latin typeface="Arial"/>
                <a:ea typeface="Arial"/>
                <a:cs typeface="Arial"/>
              </a:defRPr>
            </a:pPr>
            <a:r>
              <a:rPr sz="2625" b="1">
                <a:solidFill>
                  <a:srgbClr val="0C615A"/>
                </a:solidFill>
                <a:latin typeface="Arial"/>
                <a:ea typeface="Arial"/>
                <a:cs typeface="Arial"/>
              </a:rPr>
              <a:t>Continuity</a:t>
            </a:r>
          </a:p>
        </p:txBody>
      </p:sp>
      <p:sp>
        <p:nvSpPr>
          <p:cNvPr id="6" name="">
            <a:extLst xmlns:a="http://schemas.openxmlformats.org/drawingml/2006/main">
              <a:ext uri="{FF2B5EF4-FFF2-40B4-BE49-F238E27FC236}">
                <a16:creationId xmlns:a16="http://schemas.microsoft.com/office/drawing/2014/main" id="{3945356A-F548-4510-8C5E-6771FA834FD5}"/>
              </a:ext>
            </a:extLst>
          </p:cNvPr>
          <p:cNvSpPr>
            <a:spLocks xmlns:a="http://schemas.openxmlformats.org/drawingml/2006/main" noGrp="1"/>
          </p:cNvSpPr>
          <p:nvPr/>
        </p:nvSpPr>
        <p:spPr>
          <a:xfrm xmlns:a="http://schemas.openxmlformats.org/drawingml/2006/main">
            <a:off x="4343400" y="2533650"/>
            <a:ext cx="7172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Someone remembers what I am working on.</a:t>
            </a:r>
          </a:p>
        </p:txBody>
      </p:sp>
      <p:sp>
        <p:nvSpPr>
          <p:cNvPr id="7" name="">
            <a:extLst xmlns:a="http://schemas.openxmlformats.org/drawingml/2006/main">
              <a:ext uri="{FF2B5EF4-FFF2-40B4-BE49-F238E27FC236}">
                <a16:creationId xmlns:a16="http://schemas.microsoft.com/office/drawing/2014/main" id="{4FB09FBC-2854-4068-9D10-5BBD3DC08DC4}"/>
              </a:ext>
            </a:extLst>
          </p:cNvPr>
          <p:cNvSpPr>
            <a:spLocks xmlns:a="http://schemas.openxmlformats.org/drawingml/2006/main" noGrp="1"/>
          </p:cNvSpPr>
          <p:nvPr/>
        </p:nvSpPr>
        <p:spPr>
          <a:xfrm xmlns:a="http://schemas.openxmlformats.org/drawingml/2006/main">
            <a:off x="609600" y="36480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C615A"/>
                </a:solidFill>
                <a:latin typeface="Arial"/>
                <a:ea typeface="Arial"/>
                <a:cs typeface="Arial"/>
              </a:defRPr>
            </a:pPr>
            <a:r>
              <a:rPr sz="2625" b="1">
                <a:solidFill>
                  <a:srgbClr val="0C615A"/>
                </a:solidFill>
                <a:latin typeface="Arial"/>
                <a:ea typeface="Arial"/>
                <a:cs typeface="Arial"/>
              </a:rPr>
              <a:t>Progress</a:t>
            </a:r>
          </a:p>
        </p:txBody>
      </p:sp>
      <p:sp>
        <p:nvSpPr>
          <p:cNvPr id="8" name="">
            <a:extLst xmlns:a="http://schemas.openxmlformats.org/drawingml/2006/main">
              <a:ext uri="{FF2B5EF4-FFF2-40B4-BE49-F238E27FC236}">
                <a16:creationId xmlns:a16="http://schemas.microsoft.com/office/drawing/2014/main" id="{B81CD85C-D78D-46A1-8667-BD66B1365F5E}"/>
              </a:ext>
            </a:extLst>
          </p:cNvPr>
          <p:cNvSpPr>
            <a:spLocks xmlns:a="http://schemas.openxmlformats.org/drawingml/2006/main" noGrp="1"/>
          </p:cNvSpPr>
          <p:nvPr/>
        </p:nvSpPr>
        <p:spPr>
          <a:xfrm xmlns:a="http://schemas.openxmlformats.org/drawingml/2006/main">
            <a:off x="4343400" y="3705225"/>
            <a:ext cx="7172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I know what to focus on next.</a:t>
            </a:r>
          </a:p>
        </p:txBody>
      </p:sp>
      <p:sp>
        <p:nvSpPr>
          <p:cNvPr id="9" name="">
            <a:extLst xmlns:a="http://schemas.openxmlformats.org/drawingml/2006/main">
              <a:ext uri="{FF2B5EF4-FFF2-40B4-BE49-F238E27FC236}">
                <a16:creationId xmlns:a16="http://schemas.microsoft.com/office/drawing/2014/main" id="{B6BE592B-A4D6-4D5F-90FA-9FAB88F17C52}"/>
              </a:ext>
            </a:extLst>
          </p:cNvPr>
          <p:cNvSpPr>
            <a:spLocks xmlns:a="http://schemas.openxmlformats.org/drawingml/2006/main" noGrp="1"/>
          </p:cNvSpPr>
          <p:nvPr/>
        </p:nvSpPr>
        <p:spPr>
          <a:xfrm xmlns:a="http://schemas.openxmlformats.org/drawingml/2006/main">
            <a:off x="609600" y="4819650"/>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C615A"/>
                </a:solidFill>
                <a:latin typeface="Arial"/>
                <a:ea typeface="Arial"/>
                <a:cs typeface="Arial"/>
              </a:defRPr>
            </a:pPr>
            <a:r>
              <a:rPr sz="2625" b="1">
                <a:solidFill>
                  <a:srgbClr val="0C615A"/>
                </a:solidFill>
                <a:latin typeface="Arial"/>
                <a:ea typeface="Arial"/>
                <a:cs typeface="Arial"/>
              </a:rPr>
              <a:t>Accountability</a:t>
            </a:r>
          </a:p>
        </p:txBody>
      </p:sp>
      <p:sp>
        <p:nvSpPr>
          <p:cNvPr id="10" name="">
            <a:extLst xmlns:a="http://schemas.openxmlformats.org/drawingml/2006/main">
              <a:ext uri="{FF2B5EF4-FFF2-40B4-BE49-F238E27FC236}">
                <a16:creationId xmlns:a16="http://schemas.microsoft.com/office/drawing/2014/main" id="{A19BD13A-77A6-470B-9C0B-9C286488EA29}"/>
              </a:ext>
            </a:extLst>
          </p:cNvPr>
          <p:cNvSpPr>
            <a:spLocks xmlns:a="http://schemas.openxmlformats.org/drawingml/2006/main" noGrp="1"/>
          </p:cNvSpPr>
          <p:nvPr/>
        </p:nvSpPr>
        <p:spPr>
          <a:xfrm xmlns:a="http://schemas.openxmlformats.org/drawingml/2006/main">
            <a:off x="4343400" y="4876800"/>
            <a:ext cx="7172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My coach checks back with me.</a:t>
            </a:r>
          </a:p>
        </p:txBody>
      </p:sp>
    </p:spTree>
    <p:extLst>
      <p:ext uri="{BB962C8B-B14F-4D97-AF65-F5344CB8AC3E}">
        <p14:creationId xmlns:p14="http://schemas.microsoft.com/office/powerpoint/2010/main" val="1433905630"/>
      </p:ext>
    </p:extLst>
  </p:cSld>
</p:sld>
</file>

<file path=ppt/slides/slide4.xml><?xml version="1.0" encoding="utf-8"?>
<p:sld xmlns:p="http://schemas.openxmlformats.org/presentationml/2006/main">
  <p:cSld>
    <p:bg>
      <p:bgPr>
        <a:solidFill xmlns:a="http://schemas.openxmlformats.org/drawingml/2006/main">
          <a:srgbClr val="0C615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37D2AC-860F-4F82-A667-A1B8B23BF174}"/>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1D0C4"/>
                </a:solidFill>
                <a:latin typeface="Arial"/>
                <a:ea typeface="Arial"/>
                <a:cs typeface="Arial"/>
              </a:defRPr>
            </a:pPr>
            <a:r>
              <a:rPr sz="1125" b="1">
                <a:solidFill>
                  <a:srgbClr val="91D0C4"/>
                </a:solidFill>
                <a:latin typeface="Arial"/>
                <a:ea typeface="Arial"/>
                <a:cs typeface="Arial"/>
              </a:rPr>
              <a:t>CORNERWORK  /  THE GAP</a:t>
            </a:r>
          </a:p>
        </p:txBody>
      </p:sp>
      <p:sp>
        <p:nvSpPr>
          <p:cNvPr id="2" name="">
            <a:extLst xmlns:a="http://schemas.openxmlformats.org/drawingml/2006/main">
              <a:ext uri="{FF2B5EF4-FFF2-40B4-BE49-F238E27FC236}">
                <a16:creationId xmlns:a16="http://schemas.microsoft.com/office/drawing/2014/main" id="{DA65FFB0-10BB-4868-BC2C-33738E0A7365}"/>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4F1E9"/>
                </a:solidFill>
                <a:latin typeface="Arial"/>
                <a:ea typeface="Arial"/>
                <a:cs typeface="Arial"/>
              </a:defRPr>
            </a:pPr>
            <a:r>
              <a:rPr sz="3600" b="1">
                <a:solidFill>
                  <a:srgbClr val="F4F1E9"/>
                </a:solidFill>
                <a:latin typeface="Arial"/>
                <a:ea typeface="Arial"/>
                <a:cs typeface="Arial"/>
              </a:rPr>
              <a:t>Keep the coaching going after class.</a:t>
            </a:r>
          </a:p>
        </p:txBody>
      </p:sp>
      <p:sp>
        <p:nvSpPr>
          <p:cNvPr id="3" name="">
            <a:extLst xmlns:a="http://schemas.openxmlformats.org/drawingml/2006/main">
              <a:ext uri="{FF2B5EF4-FFF2-40B4-BE49-F238E27FC236}">
                <a16:creationId xmlns:a16="http://schemas.microsoft.com/office/drawing/2014/main" id="{9E193279-5F1E-4067-8F3A-88B83ED58553}"/>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1D0C4"/>
                </a:solidFill>
                <a:latin typeface="Arial"/>
                <a:ea typeface="Arial"/>
                <a:cs typeface="Arial"/>
              </a:defRPr>
            </a:pPr>
            <a:r>
              <a:rPr sz="900" b="0">
                <a:solidFill>
                  <a:srgbClr val="91D0C4"/>
                </a:solidFill>
                <a:latin typeface="Arial"/>
                <a:ea typeface="Arial"/>
                <a:cs typeface="Arial"/>
              </a:rPr>
              <a:t>CORNERWORK  /  FOUNDING GYM CONVERSATION</a:t>
            </a:r>
          </a:p>
        </p:txBody>
      </p:sp>
      <p:sp>
        <p:nvSpPr>
          <p:cNvPr id="4" name="">
            <a:extLst xmlns:a="http://schemas.openxmlformats.org/drawingml/2006/main">
              <a:ext uri="{FF2B5EF4-FFF2-40B4-BE49-F238E27FC236}">
                <a16:creationId xmlns:a16="http://schemas.microsoft.com/office/drawing/2014/main" id="{93DCD937-AFEE-440F-B336-31E0D6460D83}"/>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1D0C4"/>
                </a:solidFill>
                <a:latin typeface="Arial"/>
                <a:ea typeface="Arial"/>
                <a:cs typeface="Arial"/>
              </a:defRPr>
            </a:pPr>
            <a:r>
              <a:rPr sz="1050" b="0">
                <a:solidFill>
                  <a:srgbClr val="91D0C4"/>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642D07A1-D13F-4CD1-B3E4-902F8804420A}"/>
              </a:ext>
            </a:extLst>
          </p:cNvPr>
          <p:cNvSpPr>
            <a:spLocks xmlns:a="http://schemas.openxmlformats.org/drawingml/2006/main" noGrp="1"/>
          </p:cNvSpPr>
          <p:nvPr/>
        </p:nvSpPr>
        <p:spPr>
          <a:xfrm xmlns:a="http://schemas.openxmlformats.org/drawingml/2006/main">
            <a:off x="609600" y="2543175"/>
            <a:ext cx="107632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4F1E9"/>
                </a:solidFill>
                <a:latin typeface="Arial"/>
                <a:ea typeface="Arial"/>
                <a:cs typeface="Arial"/>
              </a:defRPr>
            </a:pPr>
            <a:r>
              <a:rPr sz="3225" b="1">
                <a:solidFill>
                  <a:srgbClr val="F4F1E9"/>
                </a:solidFill>
                <a:latin typeface="Arial"/>
                <a:ea typeface="Arial"/>
                <a:cs typeface="Arial"/>
              </a:rPr>
              <a:t>Collect the question.</a:t>
            </a:r>
          </a:p>
          <a:p xmlns:a="http://schemas.openxmlformats.org/drawingml/2006/main">
            <a:pPr>
              <a:defRPr sz="3225" b="1">
                <a:solidFill>
                  <a:srgbClr val="F4F1E9"/>
                </a:solidFill>
                <a:latin typeface="Arial"/>
                <a:ea typeface="Arial"/>
                <a:cs typeface="Arial"/>
              </a:defRPr>
            </a:pPr>
            <a:r>
              <a:rPr sz="3225" b="1">
                <a:solidFill>
                  <a:srgbClr val="F4F1E9"/>
                </a:solidFill>
                <a:latin typeface="Arial"/>
                <a:ea typeface="Arial"/>
                <a:cs typeface="Arial"/>
              </a:rPr>
              <a:t>Make time for a human response.</a:t>
            </a:r>
          </a:p>
          <a:p xmlns:a="http://schemas.openxmlformats.org/drawingml/2006/main">
            <a:pPr>
              <a:defRPr sz="3225" b="1">
                <a:solidFill>
                  <a:srgbClr val="F4F1E9"/>
                </a:solidFill>
                <a:latin typeface="Arial"/>
                <a:ea typeface="Arial"/>
                <a:cs typeface="Arial"/>
              </a:defRPr>
            </a:pPr>
            <a:r>
              <a:rPr sz="3225" b="1">
                <a:solidFill>
                  <a:srgbClr val="F4F1E9"/>
                </a:solidFill>
                <a:latin typeface="Arial"/>
                <a:ea typeface="Arial"/>
                <a:cs typeface="Arial"/>
              </a:rPr>
              <a:t>Bring the context into the next class.</a:t>
            </a:r>
          </a:p>
        </p:txBody>
      </p:sp>
      <p:sp>
        <p:nvSpPr>
          <p:cNvPr id="6" name="">
            <a:extLst xmlns:a="http://schemas.openxmlformats.org/drawingml/2006/main">
              <a:ext uri="{FF2B5EF4-FFF2-40B4-BE49-F238E27FC236}">
                <a16:creationId xmlns:a16="http://schemas.microsoft.com/office/drawing/2014/main" id="{143ACE37-8A8D-444A-89D4-75E76357DF32}"/>
              </a:ext>
            </a:extLst>
          </p:cNvPr>
          <p:cNvSpPr>
            <a:spLocks xmlns:a="http://schemas.openxmlformats.org/drawingml/2006/main" noGrp="1"/>
          </p:cNvSpPr>
          <p:nvPr/>
        </p:nvSpPr>
        <p:spPr>
          <a:xfrm xmlns:a="http://schemas.openxmlformats.org/drawingml/2006/main">
            <a:off x="609600" y="53149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91D0C4"/>
                </a:solidFill>
                <a:latin typeface="Arial"/>
                <a:ea typeface="Arial"/>
                <a:cs typeface="Arial"/>
              </a:defRPr>
            </a:pPr>
            <a:r>
              <a:rPr sz="1875" b="0">
                <a:solidFill>
                  <a:srgbClr val="91D0C4"/>
                </a:solidFill>
                <a:latin typeface="Arial"/>
                <a:ea typeface="Arial"/>
                <a:cs typeface="Arial"/>
              </a:rPr>
              <a:t>Designed to work alongside the gym’s booking system.</a:t>
            </a:r>
          </a:p>
          <a:p xmlns:a="http://schemas.openxmlformats.org/drawingml/2006/main">
            <a:pPr>
              <a:defRPr sz="1875" b="0">
                <a:solidFill>
                  <a:srgbClr val="91D0C4"/>
                </a:solidFill>
                <a:latin typeface="Arial"/>
                <a:ea typeface="Arial"/>
                <a:cs typeface="Arial"/>
              </a:defRPr>
            </a:pPr>
            <a:r>
              <a:rPr sz="1875" b="0">
                <a:solidFill>
                  <a:srgbClr val="91D0C4"/>
                </a:solidFill>
                <a:latin typeface="Arial"/>
                <a:ea typeface="Arial"/>
                <a:cs typeface="Arial"/>
              </a:rPr>
              <a:t>Start in combat sports; test the same loop in other coached activities.</a:t>
            </a:r>
          </a:p>
        </p:txBody>
      </p:sp>
    </p:spTree>
    <p:extLst>
      <p:ext uri="{BB962C8B-B14F-4D97-AF65-F5344CB8AC3E}">
        <p14:creationId xmlns:p14="http://schemas.microsoft.com/office/powerpoint/2010/main" val="1342810899"/>
      </p:ext>
    </p:extLst>
  </p:cSld>
</p:sld>
</file>

<file path=ppt/slides/slide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E694A4D-D74A-4C17-80C9-CF087238D303}"/>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THE LOOP</a:t>
            </a:r>
          </a:p>
        </p:txBody>
      </p:sp>
      <p:sp>
        <p:nvSpPr>
          <p:cNvPr id="2" name="">
            <a:extLst xmlns:a="http://schemas.openxmlformats.org/drawingml/2006/main">
              <a:ext uri="{FF2B5EF4-FFF2-40B4-BE49-F238E27FC236}">
                <a16:creationId xmlns:a16="http://schemas.microsoft.com/office/drawing/2014/main" id="{00BB51A2-8218-42F9-A872-0A66B7AE58BE}"/>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One conversation carries into the next class.</a:t>
            </a:r>
          </a:p>
        </p:txBody>
      </p:sp>
      <p:sp>
        <p:nvSpPr>
          <p:cNvPr id="3" name="">
            <a:extLst xmlns:a="http://schemas.openxmlformats.org/drawingml/2006/main">
              <a:ext uri="{FF2B5EF4-FFF2-40B4-BE49-F238E27FC236}">
                <a16:creationId xmlns:a16="http://schemas.microsoft.com/office/drawing/2014/main" id="{96DEDCD3-953C-4DA1-A5E7-C41D84D3CD5D}"/>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CORNERWORK  /  FOUNDING GYM CONVERSATION</a:t>
            </a:r>
          </a:p>
        </p:txBody>
      </p:sp>
      <p:sp>
        <p:nvSpPr>
          <p:cNvPr id="4" name="">
            <a:extLst xmlns:a="http://schemas.openxmlformats.org/drawingml/2006/main">
              <a:ext uri="{FF2B5EF4-FFF2-40B4-BE49-F238E27FC236}">
                <a16:creationId xmlns:a16="http://schemas.microsoft.com/office/drawing/2014/main" id="{3EF0D764-220E-478A-A630-7AEB53D20A7B}"/>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E435D9FD-9C60-4456-B1C6-0B8420AA421A}"/>
              </a:ext>
            </a:extLst>
          </p:cNvPr>
          <p:cNvSpPr>
            <a:spLocks xmlns:a="http://schemas.openxmlformats.org/drawingml/2006/main" noGrp="1"/>
          </p:cNvSpPr>
          <p:nvPr/>
        </p:nvSpPr>
        <p:spPr>
          <a:xfrm xmlns:a="http://schemas.openxmlformats.org/drawingml/2006/main">
            <a:off x="609600" y="2333625"/>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C615A"/>
                </a:solidFill>
                <a:latin typeface="Arial"/>
                <a:ea typeface="Arial"/>
                <a:cs typeface="Arial"/>
              </a:defRPr>
            </a:pPr>
            <a:r>
              <a:rPr sz="2775" b="1">
                <a:solidFill>
                  <a:srgbClr val="0C615A"/>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768E233A-F9A8-4C8F-94B1-14727A20C911}"/>
              </a:ext>
            </a:extLst>
          </p:cNvPr>
          <p:cNvSpPr>
            <a:spLocks xmlns:a="http://schemas.openxmlformats.org/drawingml/2006/main" noGrp="1"/>
          </p:cNvSpPr>
          <p:nvPr/>
        </p:nvSpPr>
        <p:spPr>
          <a:xfrm xmlns:a="http://schemas.openxmlformats.org/drawingml/2006/main">
            <a:off x="1600200" y="233362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191C"/>
                </a:solidFill>
                <a:latin typeface="Arial"/>
                <a:ea typeface="Arial"/>
                <a:cs typeface="Arial"/>
              </a:defRPr>
            </a:pPr>
            <a:r>
              <a:rPr sz="2250" b="1">
                <a:solidFill>
                  <a:srgbClr val="17191C"/>
                </a:solidFill>
                <a:latin typeface="Arial"/>
                <a:ea typeface="Arial"/>
                <a:cs typeface="Arial"/>
              </a:rPr>
              <a:t>Attend class</a:t>
            </a:r>
          </a:p>
        </p:txBody>
      </p:sp>
      <p:sp>
        <p:nvSpPr>
          <p:cNvPr id="7" name="">
            <a:extLst xmlns:a="http://schemas.openxmlformats.org/drawingml/2006/main">
              <a:ext uri="{FF2B5EF4-FFF2-40B4-BE49-F238E27FC236}">
                <a16:creationId xmlns:a16="http://schemas.microsoft.com/office/drawing/2014/main" id="{35B27895-EF22-4468-BB9D-82F6D709EE1B}"/>
              </a:ext>
            </a:extLst>
          </p:cNvPr>
          <p:cNvSpPr>
            <a:spLocks xmlns:a="http://schemas.openxmlformats.org/drawingml/2006/main" noGrp="1"/>
          </p:cNvSpPr>
          <p:nvPr/>
        </p:nvSpPr>
        <p:spPr>
          <a:xfrm xmlns:a="http://schemas.openxmlformats.org/drawingml/2006/main">
            <a:off x="5410200" y="2381250"/>
            <a:ext cx="6143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A short follow-up after training.</a:t>
            </a:r>
          </a:p>
        </p:txBody>
      </p:sp>
      <p:sp>
        <p:nvSpPr>
          <p:cNvPr id="8" name="">
            <a:extLst xmlns:a="http://schemas.openxmlformats.org/drawingml/2006/main">
              <a:ext uri="{FF2B5EF4-FFF2-40B4-BE49-F238E27FC236}">
                <a16:creationId xmlns:a16="http://schemas.microsoft.com/office/drawing/2014/main" id="{6960BEEB-1685-4941-B4DA-68F02180272B}"/>
              </a:ext>
            </a:extLst>
          </p:cNvPr>
          <p:cNvSpPr>
            <a:spLocks xmlns:a="http://schemas.openxmlformats.org/drawingml/2006/main" noGrp="1"/>
          </p:cNvSpPr>
          <p:nvPr/>
        </p:nvSpPr>
        <p:spPr>
          <a:xfrm xmlns:a="http://schemas.openxmlformats.org/drawingml/2006/main">
            <a:off x="609600" y="320040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C615A"/>
                </a:solidFill>
                <a:latin typeface="Arial"/>
                <a:ea typeface="Arial"/>
                <a:cs typeface="Arial"/>
              </a:defRPr>
            </a:pPr>
            <a:r>
              <a:rPr sz="2775" b="1">
                <a:solidFill>
                  <a:srgbClr val="0C615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CD484003-675C-4E32-9FD7-11ED1FFD3F8B}"/>
              </a:ext>
            </a:extLst>
          </p:cNvPr>
          <p:cNvSpPr>
            <a:spLocks xmlns:a="http://schemas.openxmlformats.org/drawingml/2006/main" noGrp="1"/>
          </p:cNvSpPr>
          <p:nvPr/>
        </p:nvSpPr>
        <p:spPr>
          <a:xfrm xmlns:a="http://schemas.openxmlformats.org/drawingml/2006/main">
            <a:off x="1600200" y="320040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191C"/>
                </a:solidFill>
                <a:latin typeface="Arial"/>
                <a:ea typeface="Arial"/>
                <a:cs typeface="Arial"/>
              </a:defRPr>
            </a:pPr>
            <a:r>
              <a:rPr sz="2250" b="1">
                <a:solidFill>
                  <a:srgbClr val="17191C"/>
                </a:solidFill>
                <a:latin typeface="Arial"/>
                <a:ea typeface="Arial"/>
                <a:cs typeface="Arial"/>
              </a:rPr>
              <a:t>Ask the coach</a:t>
            </a:r>
          </a:p>
        </p:txBody>
      </p:sp>
      <p:sp>
        <p:nvSpPr>
          <p:cNvPr id="10" name="">
            <a:extLst xmlns:a="http://schemas.openxmlformats.org/drawingml/2006/main">
              <a:ext uri="{FF2B5EF4-FFF2-40B4-BE49-F238E27FC236}">
                <a16:creationId xmlns:a16="http://schemas.microsoft.com/office/drawing/2014/main" id="{E375EE08-DD30-4A2F-95DF-DA1F271E9817}"/>
              </a:ext>
            </a:extLst>
          </p:cNvPr>
          <p:cNvSpPr>
            <a:spLocks xmlns:a="http://schemas.openxmlformats.org/drawingml/2006/main" noGrp="1"/>
          </p:cNvSpPr>
          <p:nvPr/>
        </p:nvSpPr>
        <p:spPr>
          <a:xfrm xmlns:a="http://schemas.openxmlformats.org/drawingml/2006/main">
            <a:off x="5410200" y="3248025"/>
            <a:ext cx="6143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Text or a voice note about what happened.</a:t>
            </a:r>
          </a:p>
        </p:txBody>
      </p:sp>
      <p:sp>
        <p:nvSpPr>
          <p:cNvPr id="11" name="">
            <a:extLst xmlns:a="http://schemas.openxmlformats.org/drawingml/2006/main">
              <a:ext uri="{FF2B5EF4-FFF2-40B4-BE49-F238E27FC236}">
                <a16:creationId xmlns:a16="http://schemas.microsoft.com/office/drawing/2014/main" id="{505E4379-BCC8-4D12-82CA-AFB701615C10}"/>
              </a:ext>
            </a:extLst>
          </p:cNvPr>
          <p:cNvSpPr>
            <a:spLocks xmlns:a="http://schemas.openxmlformats.org/drawingml/2006/main" noGrp="1"/>
          </p:cNvSpPr>
          <p:nvPr/>
        </p:nvSpPr>
        <p:spPr>
          <a:xfrm xmlns:a="http://schemas.openxmlformats.org/drawingml/2006/main">
            <a:off x="609600" y="4067175"/>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C615A"/>
                </a:solidFill>
                <a:latin typeface="Arial"/>
                <a:ea typeface="Arial"/>
                <a:cs typeface="Arial"/>
              </a:defRPr>
            </a:pPr>
            <a:r>
              <a:rPr sz="2775" b="1">
                <a:solidFill>
                  <a:srgbClr val="0C615A"/>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D38DAF9E-80AB-4EB2-BD40-CDB4E9DA5EB2}"/>
              </a:ext>
            </a:extLst>
          </p:cNvPr>
          <p:cNvSpPr>
            <a:spLocks xmlns:a="http://schemas.openxmlformats.org/drawingml/2006/main" noGrp="1"/>
          </p:cNvSpPr>
          <p:nvPr/>
        </p:nvSpPr>
        <p:spPr>
          <a:xfrm xmlns:a="http://schemas.openxmlformats.org/drawingml/2006/main">
            <a:off x="1600200" y="406717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191C"/>
                </a:solidFill>
                <a:latin typeface="Arial"/>
                <a:ea typeface="Arial"/>
                <a:cs typeface="Arial"/>
              </a:defRPr>
            </a:pPr>
            <a:r>
              <a:rPr sz="2250" b="1">
                <a:solidFill>
                  <a:srgbClr val="17191C"/>
                </a:solidFill>
                <a:latin typeface="Arial"/>
                <a:ea typeface="Arial"/>
                <a:cs typeface="Arial"/>
              </a:rPr>
              <a:t>Get a response</a:t>
            </a:r>
          </a:p>
        </p:txBody>
      </p:sp>
      <p:sp>
        <p:nvSpPr>
          <p:cNvPr id="13" name="">
            <a:extLst xmlns:a="http://schemas.openxmlformats.org/drawingml/2006/main">
              <a:ext uri="{FF2B5EF4-FFF2-40B4-BE49-F238E27FC236}">
                <a16:creationId xmlns:a16="http://schemas.microsoft.com/office/drawing/2014/main" id="{058BBEC3-772C-4AD6-BDBE-BCBB71B85620}"/>
              </a:ext>
            </a:extLst>
          </p:cNvPr>
          <p:cNvSpPr>
            <a:spLocks xmlns:a="http://schemas.openxmlformats.org/drawingml/2006/main" noGrp="1"/>
          </p:cNvSpPr>
          <p:nvPr/>
        </p:nvSpPr>
        <p:spPr>
          <a:xfrm xmlns:a="http://schemas.openxmlformats.org/drawingml/2006/main">
            <a:off x="5410200" y="4114800"/>
            <a:ext cx="6143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The coach checks the queue and replies.</a:t>
            </a:r>
          </a:p>
        </p:txBody>
      </p:sp>
      <p:sp>
        <p:nvSpPr>
          <p:cNvPr id="14" name="">
            <a:extLst xmlns:a="http://schemas.openxmlformats.org/drawingml/2006/main">
              <a:ext uri="{FF2B5EF4-FFF2-40B4-BE49-F238E27FC236}">
                <a16:creationId xmlns:a16="http://schemas.microsoft.com/office/drawing/2014/main" id="{1B576528-DC19-43E8-9640-6E7862BBB781}"/>
              </a:ext>
            </a:extLst>
          </p:cNvPr>
          <p:cNvSpPr>
            <a:spLocks xmlns:a="http://schemas.openxmlformats.org/drawingml/2006/main" noGrp="1"/>
          </p:cNvSpPr>
          <p:nvPr/>
        </p:nvSpPr>
        <p:spPr>
          <a:xfrm xmlns:a="http://schemas.openxmlformats.org/drawingml/2006/main">
            <a:off x="609600" y="493395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C615A"/>
                </a:solidFill>
                <a:latin typeface="Arial"/>
                <a:ea typeface="Arial"/>
                <a:cs typeface="Arial"/>
              </a:defRPr>
            </a:pPr>
            <a:r>
              <a:rPr sz="2775" b="1">
                <a:solidFill>
                  <a:srgbClr val="0C615A"/>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F60BDCC8-7932-440C-AEC2-765CE4AEC55A}"/>
              </a:ext>
            </a:extLst>
          </p:cNvPr>
          <p:cNvSpPr>
            <a:spLocks xmlns:a="http://schemas.openxmlformats.org/drawingml/2006/main" noGrp="1"/>
          </p:cNvSpPr>
          <p:nvPr/>
        </p:nvSpPr>
        <p:spPr>
          <a:xfrm xmlns:a="http://schemas.openxmlformats.org/drawingml/2006/main">
            <a:off x="1600200" y="493395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191C"/>
                </a:solidFill>
                <a:latin typeface="Arial"/>
                <a:ea typeface="Arial"/>
                <a:cs typeface="Arial"/>
              </a:defRPr>
            </a:pPr>
            <a:r>
              <a:rPr sz="2250" b="1">
                <a:solidFill>
                  <a:srgbClr val="17191C"/>
                </a:solidFill>
                <a:latin typeface="Arial"/>
                <a:ea typeface="Arial"/>
                <a:cs typeface="Arial"/>
              </a:rPr>
              <a:t>Return with context</a:t>
            </a:r>
          </a:p>
        </p:txBody>
      </p:sp>
      <p:sp>
        <p:nvSpPr>
          <p:cNvPr id="16" name="">
            <a:extLst xmlns:a="http://schemas.openxmlformats.org/drawingml/2006/main">
              <a:ext uri="{FF2B5EF4-FFF2-40B4-BE49-F238E27FC236}">
                <a16:creationId xmlns:a16="http://schemas.microsoft.com/office/drawing/2014/main" id="{57DA49F9-D35B-43AA-85DF-2794BBF44F70}"/>
              </a:ext>
            </a:extLst>
          </p:cNvPr>
          <p:cNvSpPr>
            <a:spLocks xmlns:a="http://schemas.openxmlformats.org/drawingml/2006/main" noGrp="1"/>
          </p:cNvSpPr>
          <p:nvPr/>
        </p:nvSpPr>
        <p:spPr>
          <a:xfrm xmlns:a="http://schemas.openxmlformats.org/drawingml/2006/main">
            <a:off x="5410200" y="4981575"/>
            <a:ext cx="6143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Recent feedback informs the next class.</a:t>
            </a:r>
          </a:p>
        </p:txBody>
      </p:sp>
    </p:spTree>
    <p:extLst>
      <p:ext uri="{BB962C8B-B14F-4D97-AF65-F5344CB8AC3E}">
        <p14:creationId xmlns:p14="http://schemas.microsoft.com/office/powerpoint/2010/main" val="1088299914"/>
      </p:ext>
    </p:extLst>
  </p:cSld>
</p:sld>
</file>

<file path=ppt/slides/slide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E13A455-C096-44E0-81F9-BD740FBCB8FB}"/>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01 / AFTER CLASS</a:t>
            </a:r>
          </a:p>
        </p:txBody>
      </p:sp>
      <p:sp>
        <p:nvSpPr>
          <p:cNvPr id="2" name="">
            <a:extLst xmlns:a="http://schemas.openxmlformats.org/drawingml/2006/main">
              <a:ext uri="{FF2B5EF4-FFF2-40B4-BE49-F238E27FC236}">
                <a16:creationId xmlns:a16="http://schemas.microsoft.com/office/drawing/2014/main" id="{946AEE76-EDE9-4888-B211-93B462A85B44}"/>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The class ends. The conversation continues.</a:t>
            </a:r>
          </a:p>
        </p:txBody>
      </p:sp>
      <p:sp>
        <p:nvSpPr>
          <p:cNvPr id="3" name="">
            <a:extLst xmlns:a="http://schemas.openxmlformats.org/drawingml/2006/main">
              <a:ext uri="{FF2B5EF4-FFF2-40B4-BE49-F238E27FC236}">
                <a16:creationId xmlns:a16="http://schemas.microsoft.com/office/drawing/2014/main" id="{460CCE06-0FA5-4B46-BF2C-804408C056D3}"/>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CORNERWORK  /  FOUNDING GYM CONVERSATION</a:t>
            </a:r>
          </a:p>
        </p:txBody>
      </p:sp>
      <p:sp>
        <p:nvSpPr>
          <p:cNvPr id="4" name="">
            <a:extLst xmlns:a="http://schemas.openxmlformats.org/drawingml/2006/main">
              <a:ext uri="{FF2B5EF4-FFF2-40B4-BE49-F238E27FC236}">
                <a16:creationId xmlns:a16="http://schemas.microsoft.com/office/drawing/2014/main" id="{F3867F83-84DD-43FD-92F0-4F4A7A9401FE}"/>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1186CF7B-7F11-4146-A589-BE706DED97E8}"/>
              </a:ext>
            </a:extLst>
          </p:cNvPr>
          <p:cNvSpPr>
            <a:spLocks xmlns:a="http://schemas.openxmlformats.org/drawingml/2006/main" noGrp="1"/>
          </p:cNvSpPr>
          <p:nvPr/>
        </p:nvSpPr>
        <p:spPr>
          <a:xfrm xmlns:a="http://schemas.openxmlformats.org/drawingml/2006/main">
            <a:off x="609600" y="234315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C615A"/>
                </a:solidFill>
                <a:latin typeface="Arial"/>
                <a:ea typeface="Arial"/>
                <a:cs typeface="Arial"/>
              </a:defRPr>
            </a:pPr>
            <a:r>
              <a:rPr sz="1200" b="1">
                <a:solidFill>
                  <a:srgbClr val="0C615A"/>
                </a:solidFill>
                <a:latin typeface="Arial"/>
                <a:ea typeface="Arial"/>
                <a:cs typeface="Arial"/>
              </a:rPr>
              <a:t>INTENDED MEMBER EXPERIENCE</a:t>
            </a:r>
          </a:p>
        </p:txBody>
      </p:sp>
      <p:sp>
        <p:nvSpPr>
          <p:cNvPr id="6" name="">
            <a:extLst xmlns:a="http://schemas.openxmlformats.org/drawingml/2006/main">
              <a:ext uri="{FF2B5EF4-FFF2-40B4-BE49-F238E27FC236}">
                <a16:creationId xmlns:a16="http://schemas.microsoft.com/office/drawing/2014/main" id="{6CE3171F-0954-40C4-BFB3-139B4EBE62F6}"/>
              </a:ext>
            </a:extLst>
          </p:cNvPr>
          <p:cNvSpPr>
            <a:spLocks xmlns:a="http://schemas.openxmlformats.org/drawingml/2006/main" noGrp="1"/>
          </p:cNvSpPr>
          <p:nvPr/>
        </p:nvSpPr>
        <p:spPr>
          <a:xfrm xmlns:a="http://schemas.openxmlformats.org/drawingml/2006/main">
            <a:off x="609600" y="2876550"/>
            <a:ext cx="7524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191C"/>
                </a:solidFill>
                <a:latin typeface="Arial"/>
                <a:ea typeface="Arial"/>
                <a:cs typeface="Arial"/>
              </a:defRPr>
            </a:pPr>
            <a:r>
              <a:rPr sz="3450" b="1">
                <a:solidFill>
                  <a:srgbClr val="17191C"/>
                </a:solidFill>
                <a:latin typeface="Arial"/>
                <a:ea typeface="Arial"/>
                <a:cs typeface="Arial"/>
              </a:rPr>
              <a:t>“How did training go?</a:t>
            </a:r>
          </a:p>
          <a:p xmlns:a="http://schemas.openxmlformats.org/drawingml/2006/main">
            <a:pPr>
              <a:defRPr sz="3450" b="1">
                <a:solidFill>
                  <a:srgbClr val="17191C"/>
                </a:solidFill>
                <a:latin typeface="Arial"/>
                <a:ea typeface="Arial"/>
                <a:cs typeface="Arial"/>
              </a:defRPr>
            </a:pPr>
            <a:r>
              <a:rPr sz="3450" b="1">
                <a:solidFill>
                  <a:srgbClr val="17191C"/>
                </a:solidFill>
                <a:latin typeface="Arial"/>
                <a:ea typeface="Arial"/>
                <a:cs typeface="Arial"/>
              </a:rPr>
              <a:t>Anything you want your</a:t>
            </a:r>
          </a:p>
          <a:p xmlns:a="http://schemas.openxmlformats.org/drawingml/2006/main">
            <a:pPr>
              <a:defRPr sz="3450" b="1">
                <a:solidFill>
                  <a:srgbClr val="17191C"/>
                </a:solidFill>
                <a:latin typeface="Arial"/>
                <a:ea typeface="Arial"/>
                <a:cs typeface="Arial"/>
              </a:defRPr>
            </a:pPr>
            <a:r>
              <a:rPr sz="3450" b="1">
                <a:solidFill>
                  <a:srgbClr val="17191C"/>
                </a:solidFill>
                <a:latin typeface="Arial"/>
                <a:ea typeface="Arial"/>
                <a:cs typeface="Arial"/>
              </a:rPr>
              <a:t>coach to help with?”</a:t>
            </a:r>
          </a:p>
        </p:txBody>
      </p:sp>
      <p:sp>
        <p:nvSpPr>
          <p:cNvPr id="7" name="">
            <a:extLst xmlns:a="http://schemas.openxmlformats.org/drawingml/2006/main">
              <a:ext uri="{FF2B5EF4-FFF2-40B4-BE49-F238E27FC236}">
                <a16:creationId xmlns:a16="http://schemas.microsoft.com/office/drawing/2014/main" id="{4C625A53-974C-4FDD-975C-D4BC32DE644E}"/>
              </a:ext>
            </a:extLst>
          </p:cNvPr>
          <p:cNvSpPr>
            <a:spLocks xmlns:a="http://schemas.openxmlformats.org/drawingml/2006/main" noGrp="1"/>
          </p:cNvSpPr>
          <p:nvPr/>
        </p:nvSpPr>
        <p:spPr>
          <a:xfrm xmlns:a="http://schemas.openxmlformats.org/drawingml/2006/main">
            <a:off x="8696325" y="24955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C615A"/>
                </a:solidFill>
                <a:latin typeface="Arial"/>
                <a:ea typeface="Arial"/>
                <a:cs typeface="Arial"/>
              </a:defRPr>
            </a:pPr>
            <a:r>
              <a:rPr sz="1950" b="1">
                <a:solidFill>
                  <a:srgbClr val="0C615A"/>
                </a:solidFill>
                <a:latin typeface="Arial"/>
                <a:ea typeface="Arial"/>
                <a:cs typeface="Arial"/>
              </a:rPr>
              <a:t>In today’s demo</a:t>
            </a:r>
          </a:p>
        </p:txBody>
      </p:sp>
      <p:sp>
        <p:nvSpPr>
          <p:cNvPr id="8" name="">
            <a:extLst xmlns:a="http://schemas.openxmlformats.org/drawingml/2006/main">
              <a:ext uri="{FF2B5EF4-FFF2-40B4-BE49-F238E27FC236}">
                <a16:creationId xmlns:a16="http://schemas.microsoft.com/office/drawing/2014/main" id="{DB547760-C482-4FFF-9CBE-D8D705832A43}"/>
              </a:ext>
            </a:extLst>
          </p:cNvPr>
          <p:cNvSpPr>
            <a:spLocks xmlns:a="http://schemas.openxmlformats.org/drawingml/2006/main" noGrp="1"/>
          </p:cNvSpPr>
          <p:nvPr/>
        </p:nvSpPr>
        <p:spPr>
          <a:xfrm xmlns:a="http://schemas.openxmlformats.org/drawingml/2006/main">
            <a:off x="8696325" y="3067050"/>
            <a:ext cx="28860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91C"/>
                </a:solidFill>
                <a:latin typeface="Arial"/>
                <a:ea typeface="Arial"/>
                <a:cs typeface="Arial"/>
              </a:defRPr>
            </a:pPr>
            <a:r>
              <a:rPr sz="2025" b="0">
                <a:solidFill>
                  <a:srgbClr val="17191C"/>
                </a:solidFill>
                <a:latin typeface="Arial"/>
                <a:ea typeface="Arial"/>
                <a:cs typeface="Arial"/>
              </a:rPr>
              <a:t>A simulated post-class</a:t>
            </a:r>
          </a:p>
          <a:p xmlns:a="http://schemas.openxmlformats.org/drawingml/2006/main">
            <a:pPr>
              <a:defRPr sz="2025" b="0">
                <a:solidFill>
                  <a:srgbClr val="17191C"/>
                </a:solidFill>
                <a:latin typeface="Arial"/>
                <a:ea typeface="Arial"/>
                <a:cs typeface="Arial"/>
              </a:defRPr>
            </a:pPr>
            <a:r>
              <a:rPr sz="2025" b="0">
                <a:solidFill>
                  <a:srgbClr val="17191C"/>
                </a:solidFill>
                <a:latin typeface="Arial"/>
                <a:ea typeface="Arial"/>
                <a:cs typeface="Arial"/>
              </a:rPr>
              <a:t>message, triggered in</a:t>
            </a:r>
          </a:p>
          <a:p xmlns:a="http://schemas.openxmlformats.org/drawingml/2006/main">
            <a:pPr>
              <a:defRPr sz="2025" b="0">
                <a:solidFill>
                  <a:srgbClr val="17191C"/>
                </a:solidFill>
                <a:latin typeface="Arial"/>
                <a:ea typeface="Arial"/>
                <a:cs typeface="Arial"/>
              </a:defRPr>
            </a:pPr>
            <a:r>
              <a:rPr sz="2025" b="0">
                <a:solidFill>
                  <a:srgbClr val="17191C"/>
                </a:solidFill>
                <a:latin typeface="Arial"/>
                <a:ea typeface="Arial"/>
                <a:cs typeface="Arial"/>
              </a:rPr>
              <a:t>Demo tools.</a:t>
            </a:r>
          </a:p>
        </p:txBody>
      </p:sp>
      <p:sp>
        <p:nvSpPr>
          <p:cNvPr id="9" name="">
            <a:extLst xmlns:a="http://schemas.openxmlformats.org/drawingml/2006/main">
              <a:ext uri="{FF2B5EF4-FFF2-40B4-BE49-F238E27FC236}">
                <a16:creationId xmlns:a16="http://schemas.microsoft.com/office/drawing/2014/main" id="{FD5D5B9B-1BFE-414D-88FA-3083A6B3001A}"/>
              </a:ext>
            </a:extLst>
          </p:cNvPr>
          <p:cNvSpPr>
            <a:spLocks xmlns:a="http://schemas.openxmlformats.org/drawingml/2006/main" noGrp="1"/>
          </p:cNvSpPr>
          <p:nvPr/>
        </p:nvSpPr>
        <p:spPr>
          <a:xfrm xmlns:a="http://schemas.openxmlformats.org/drawingml/2006/main">
            <a:off x="8696325" y="4752975"/>
            <a:ext cx="28860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A6964"/>
                </a:solidFill>
                <a:latin typeface="Arial"/>
                <a:ea typeface="Arial"/>
                <a:cs typeface="Arial"/>
              </a:defRPr>
            </a:pPr>
            <a:r>
              <a:rPr sz="1725" b="0">
                <a:solidFill>
                  <a:srgbClr val="5A6964"/>
                </a:solidFill>
                <a:latin typeface="Arial"/>
                <a:ea typeface="Arial"/>
                <a:cs typeface="Arial"/>
              </a:rPr>
              <a:t>Live attendance sync</a:t>
            </a:r>
          </a:p>
          <a:p xmlns:a="http://schemas.openxmlformats.org/drawingml/2006/main">
            <a:pPr>
              <a:defRPr sz="1725" b="0">
                <a:solidFill>
                  <a:srgbClr val="5A6964"/>
                </a:solidFill>
                <a:latin typeface="Arial"/>
                <a:ea typeface="Arial"/>
                <a:cs typeface="Arial"/>
              </a:defRPr>
            </a:pPr>
            <a:r>
              <a:rPr sz="1725" b="0">
                <a:solidFill>
                  <a:srgbClr val="5A6964"/>
                </a:solidFill>
                <a:latin typeface="Arial"/>
                <a:ea typeface="Arial"/>
                <a:cs typeface="Arial"/>
              </a:rPr>
              <a:t>is the next test.</a:t>
            </a:r>
          </a:p>
        </p:txBody>
      </p:sp>
      <p:sp>
        <p:nvSpPr>
          <p:cNvPr id="10" name="">
            <a:extLst xmlns:a="http://schemas.openxmlformats.org/drawingml/2006/main">
              <a:ext uri="{FF2B5EF4-FFF2-40B4-BE49-F238E27FC236}">
                <a16:creationId xmlns:a16="http://schemas.microsoft.com/office/drawing/2014/main" id="{A023D2BD-8A27-4CB2-BE74-7461C3D2973E}"/>
              </a:ext>
            </a:extLst>
          </p:cNvPr>
          <p:cNvSpPr>
            <a:spLocks xmlns:a="http://schemas.openxmlformats.org/drawingml/2006/main" noGrp="1"/>
          </p:cNvSpPr>
          <p:nvPr/>
        </p:nvSpPr>
        <p:spPr>
          <a:xfrm xmlns:a="http://schemas.openxmlformats.org/drawingml/2006/main">
            <a:off x="609600" y="57816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A6964"/>
                </a:solidFill>
                <a:latin typeface="Arial"/>
                <a:ea typeface="Arial"/>
                <a:cs typeface="Arial"/>
              </a:defRPr>
            </a:pPr>
            <a:r>
              <a:rPr sz="1500" b="0">
                <a:solidFill>
                  <a:srgbClr val="5A6964"/>
                </a:solidFill>
                <a:latin typeface="Arial"/>
                <a:ea typeface="Arial"/>
                <a:cs typeface="Arial"/>
              </a:rPr>
              <a:t>Target: verified attendance + class end + opt-in. Timing is a pilot choice.</a:t>
            </a:r>
          </a:p>
        </p:txBody>
      </p:sp>
    </p:spTree>
    <p:extLst>
      <p:ext uri="{BB962C8B-B14F-4D97-AF65-F5344CB8AC3E}">
        <p14:creationId xmlns:p14="http://schemas.microsoft.com/office/powerpoint/2010/main" val="1421945479"/>
      </p:ext>
    </p:extLst>
  </p:cSld>
</p:sld>
</file>

<file path=ppt/slides/slide7.xml><?xml version="1.0" encoding="utf-8"?>
<p:sld xmlns:p="http://schemas.openxmlformats.org/presentationml/2006/main">
  <p:cSld>
    <p:bg>
      <p:bgPr>
        <a:solidFill xmlns:a="http://schemas.openxmlformats.org/drawingml/2006/main">
          <a:srgbClr val="0C615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E7EE95-3BB0-4432-A2E6-571020AAAC2B}"/>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1D0C4"/>
                </a:solidFill>
                <a:latin typeface="Arial"/>
                <a:ea typeface="Arial"/>
                <a:cs typeface="Arial"/>
              </a:defRPr>
            </a:pPr>
            <a:r>
              <a:rPr sz="1125" b="1">
                <a:solidFill>
                  <a:srgbClr val="91D0C4"/>
                </a:solidFill>
                <a:latin typeface="Arial"/>
                <a:ea typeface="Arial"/>
                <a:cs typeface="Arial"/>
              </a:rPr>
              <a:t>CORNERWORK  /  02 / THE MEMBER</a:t>
            </a:r>
          </a:p>
        </p:txBody>
      </p:sp>
      <p:sp>
        <p:nvSpPr>
          <p:cNvPr id="2" name="">
            <a:extLst xmlns:a="http://schemas.openxmlformats.org/drawingml/2006/main">
              <a:ext uri="{FF2B5EF4-FFF2-40B4-BE49-F238E27FC236}">
                <a16:creationId xmlns:a16="http://schemas.microsoft.com/office/drawing/2014/main" id="{B45431A1-8A4E-4547-9687-A532AFE48D81}"/>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4F1E9"/>
                </a:solidFill>
                <a:latin typeface="Arial"/>
                <a:ea typeface="Arial"/>
                <a:cs typeface="Arial"/>
              </a:defRPr>
            </a:pPr>
            <a:r>
              <a:rPr sz="3600" b="1">
                <a:solidFill>
                  <a:srgbClr val="F4F1E9"/>
                </a:solidFill>
                <a:latin typeface="Arial"/>
                <a:ea typeface="Arial"/>
                <a:cs typeface="Arial"/>
              </a:rPr>
              <a:t>A small question, while it is still fresh.</a:t>
            </a:r>
          </a:p>
        </p:txBody>
      </p:sp>
      <p:sp>
        <p:nvSpPr>
          <p:cNvPr id="3" name="">
            <a:extLst xmlns:a="http://schemas.openxmlformats.org/drawingml/2006/main">
              <a:ext uri="{FF2B5EF4-FFF2-40B4-BE49-F238E27FC236}">
                <a16:creationId xmlns:a16="http://schemas.microsoft.com/office/drawing/2014/main" id="{92EE83FE-6A0A-4BF3-A0C5-E0EA68DBF3EB}"/>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1D0C4"/>
                </a:solidFill>
                <a:latin typeface="Arial"/>
                <a:ea typeface="Arial"/>
                <a:cs typeface="Arial"/>
              </a:defRPr>
            </a:pPr>
            <a:r>
              <a:rPr sz="900" b="0">
                <a:solidFill>
                  <a:srgbClr val="91D0C4"/>
                </a:solidFill>
                <a:latin typeface="Arial"/>
                <a:ea typeface="Arial"/>
                <a:cs typeface="Arial"/>
              </a:rPr>
              <a:t>CORNERWORK  /  FOUNDING GYM CONVERSATION</a:t>
            </a:r>
          </a:p>
        </p:txBody>
      </p:sp>
      <p:sp>
        <p:nvSpPr>
          <p:cNvPr id="4" name="">
            <a:extLst xmlns:a="http://schemas.openxmlformats.org/drawingml/2006/main">
              <a:ext uri="{FF2B5EF4-FFF2-40B4-BE49-F238E27FC236}">
                <a16:creationId xmlns:a16="http://schemas.microsoft.com/office/drawing/2014/main" id="{6048763B-CF84-43BA-87E4-DC662AF3CCE7}"/>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1D0C4"/>
                </a:solidFill>
                <a:latin typeface="Arial"/>
                <a:ea typeface="Arial"/>
                <a:cs typeface="Arial"/>
              </a:defRPr>
            </a:pPr>
            <a:r>
              <a:rPr sz="1050" b="0">
                <a:solidFill>
                  <a:srgbClr val="91D0C4"/>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36920596-BD78-4CCB-911E-44B603BDCA84}"/>
              </a:ext>
            </a:extLst>
          </p:cNvPr>
          <p:cNvSpPr>
            <a:spLocks xmlns:a="http://schemas.openxmlformats.org/drawingml/2006/main" noGrp="1"/>
          </p:cNvSpPr>
          <p:nvPr/>
        </p:nvSpPr>
        <p:spPr>
          <a:xfrm xmlns:a="http://schemas.openxmlformats.org/drawingml/2006/main">
            <a:off x="609600" y="23336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91D0C4"/>
                </a:solidFill>
                <a:latin typeface="Arial"/>
                <a:ea typeface="Arial"/>
                <a:cs typeface="Arial"/>
              </a:defRPr>
            </a:pPr>
            <a:r>
              <a:rPr sz="1200" b="1">
                <a:solidFill>
                  <a:srgbClr val="91D0C4"/>
                </a:solidFill>
                <a:latin typeface="Arial"/>
                <a:ea typeface="Arial"/>
                <a:cs typeface="Arial"/>
              </a:rPr>
              <a:t>ILLUSTRATIVE MEMBER MESSAGE</a:t>
            </a:r>
          </a:p>
        </p:txBody>
      </p:sp>
      <p:sp>
        <p:nvSpPr>
          <p:cNvPr id="6" name="">
            <a:extLst xmlns:a="http://schemas.openxmlformats.org/drawingml/2006/main">
              <a:ext uri="{FF2B5EF4-FFF2-40B4-BE49-F238E27FC236}">
                <a16:creationId xmlns:a16="http://schemas.microsoft.com/office/drawing/2014/main" id="{E898B2FD-5250-4A02-9166-3CC9DF3E9711}"/>
              </a:ext>
            </a:extLst>
          </p:cNvPr>
          <p:cNvSpPr>
            <a:spLocks xmlns:a="http://schemas.openxmlformats.org/drawingml/2006/main" noGrp="1"/>
          </p:cNvSpPr>
          <p:nvPr/>
        </p:nvSpPr>
        <p:spPr>
          <a:xfrm xmlns:a="http://schemas.openxmlformats.org/drawingml/2006/main">
            <a:off x="609600" y="2886075"/>
            <a:ext cx="10810875"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4F1E9"/>
                </a:solidFill>
                <a:latin typeface="Arial"/>
                <a:ea typeface="Arial"/>
                <a:cs typeface="Arial"/>
              </a:defRPr>
            </a:pPr>
            <a:r>
              <a:rPr sz="3225" b="1">
                <a:solidFill>
                  <a:srgbClr val="F4F1E9"/>
                </a:solidFill>
                <a:latin typeface="Arial"/>
                <a:ea typeface="Arial"/>
                <a:cs typeface="Arial"/>
              </a:rPr>
              <a:t>“My jab felt sharper, but I keep</a:t>
            </a:r>
          </a:p>
          <a:p xmlns:a="http://schemas.openxmlformats.org/drawingml/2006/main">
            <a:pPr>
              <a:defRPr sz="3225" b="1">
                <a:solidFill>
                  <a:srgbClr val="F4F1E9"/>
                </a:solidFill>
                <a:latin typeface="Arial"/>
                <a:ea typeface="Arial"/>
                <a:cs typeface="Arial"/>
              </a:defRPr>
            </a:pPr>
            <a:r>
              <a:rPr sz="3225" b="1">
                <a:solidFill>
                  <a:srgbClr val="F4F1E9"/>
                </a:solidFill>
                <a:latin typeface="Arial"/>
                <a:ea typeface="Arial"/>
                <a:cs typeface="Arial"/>
              </a:rPr>
              <a:t>getting countered as I step out.</a:t>
            </a:r>
          </a:p>
          <a:p xmlns:a="http://schemas.openxmlformats.org/drawingml/2006/main">
            <a:pPr>
              <a:defRPr sz="3225" b="1">
                <a:solidFill>
                  <a:srgbClr val="F4F1E9"/>
                </a:solidFill>
                <a:latin typeface="Arial"/>
                <a:ea typeface="Arial"/>
                <a:cs typeface="Arial"/>
              </a:defRPr>
            </a:pPr>
            <a:r>
              <a:rPr sz="3225" b="1">
                <a:solidFill>
                  <a:srgbClr val="F4F1E9"/>
                </a:solidFill>
                <a:latin typeface="Arial"/>
                <a:ea typeface="Arial"/>
                <a:cs typeface="Arial"/>
              </a:rPr>
              <a:t>What should I focus on next class?”</a:t>
            </a:r>
          </a:p>
        </p:txBody>
      </p:sp>
      <p:sp>
        <p:nvSpPr>
          <p:cNvPr id="7" name="">
            <a:extLst xmlns:a="http://schemas.openxmlformats.org/drawingml/2006/main">
              <a:ext uri="{FF2B5EF4-FFF2-40B4-BE49-F238E27FC236}">
                <a16:creationId xmlns:a16="http://schemas.microsoft.com/office/drawing/2014/main" id="{74F987EB-2856-401E-A572-D01C28C15A9B}"/>
              </a:ext>
            </a:extLst>
          </p:cNvPr>
          <p:cNvSpPr>
            <a:spLocks xmlns:a="http://schemas.openxmlformats.org/drawingml/2006/main" noGrp="1"/>
          </p:cNvSpPr>
          <p:nvPr/>
        </p:nvSpPr>
        <p:spPr>
          <a:xfrm xmlns:a="http://schemas.openxmlformats.org/drawingml/2006/main">
            <a:off x="609600" y="52578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91D0C4"/>
                </a:solidFill>
                <a:latin typeface="Arial"/>
                <a:ea typeface="Arial"/>
                <a:cs typeface="Arial"/>
              </a:defRPr>
            </a:pPr>
            <a:r>
              <a:rPr sz="1875" b="0">
                <a:solidFill>
                  <a:srgbClr val="91D0C4"/>
                </a:solidFill>
                <a:latin typeface="Arial"/>
                <a:ea typeface="Arial"/>
                <a:cs typeface="Arial"/>
              </a:rPr>
              <a:t>Text or voice is the target experience.</a:t>
            </a:r>
          </a:p>
          <a:p xmlns:a="http://schemas.openxmlformats.org/drawingml/2006/main">
            <a:pPr>
              <a:defRPr sz="1875" b="0">
                <a:solidFill>
                  <a:srgbClr val="91D0C4"/>
                </a:solidFill>
                <a:latin typeface="Arial"/>
                <a:ea typeface="Arial"/>
                <a:cs typeface="Arial"/>
              </a:defRPr>
            </a:pPr>
            <a:r>
              <a:rPr sz="1875" b="0">
                <a:solidFill>
                  <a:srgbClr val="91D0C4"/>
                </a:solidFill>
                <a:latin typeface="Arial"/>
                <a:ea typeface="Arial"/>
                <a:cs typeface="Arial"/>
              </a:rPr>
              <a:t>Today, a typed transcript demonstrates the voice-note path.</a:t>
            </a:r>
          </a:p>
        </p:txBody>
      </p:sp>
    </p:spTree>
    <p:extLst>
      <p:ext uri="{BB962C8B-B14F-4D97-AF65-F5344CB8AC3E}">
        <p14:creationId xmlns:p14="http://schemas.microsoft.com/office/powerpoint/2010/main" val="1221831097"/>
      </p:ext>
    </p:extLst>
  </p:cSld>
</p:sld>
</file>

<file path=ppt/slides/slide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7458A69-B7F9-49E6-9E1A-6F0F2DDB2F09}"/>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03 / THE COACH</a:t>
            </a:r>
          </a:p>
        </p:txBody>
      </p:sp>
      <p:sp>
        <p:nvSpPr>
          <p:cNvPr id="2" name="">
            <a:extLst xmlns:a="http://schemas.openxmlformats.org/drawingml/2006/main">
              <a:ext uri="{FF2B5EF4-FFF2-40B4-BE49-F238E27FC236}">
                <a16:creationId xmlns:a16="http://schemas.microsoft.com/office/drawing/2014/main" id="{A3A1ECC8-725F-4BCC-9F05-FDA92A9B1D25}"/>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A queue the coach can act on.</a:t>
            </a:r>
          </a:p>
        </p:txBody>
      </p:sp>
      <p:sp>
        <p:nvSpPr>
          <p:cNvPr id="3" name="">
            <a:extLst xmlns:a="http://schemas.openxmlformats.org/drawingml/2006/main">
              <a:ext uri="{FF2B5EF4-FFF2-40B4-BE49-F238E27FC236}">
                <a16:creationId xmlns:a16="http://schemas.microsoft.com/office/drawing/2014/main" id="{739B3900-0EBA-4818-8F87-97BD00CD5F87}"/>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CORNERWORK  /  FOUNDING GYM CONVERSATION</a:t>
            </a:r>
          </a:p>
        </p:txBody>
      </p:sp>
      <p:sp>
        <p:nvSpPr>
          <p:cNvPr id="4" name="">
            <a:extLst xmlns:a="http://schemas.openxmlformats.org/drawingml/2006/main">
              <a:ext uri="{FF2B5EF4-FFF2-40B4-BE49-F238E27FC236}">
                <a16:creationId xmlns:a16="http://schemas.microsoft.com/office/drawing/2014/main" id="{98E1D73F-4597-4BF9-A2A8-261DD1E3986A}"/>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AF899061-71D9-4488-A125-FB23DA8ED74E}"/>
              </a:ext>
            </a:extLst>
          </p:cNvPr>
          <p:cNvSpPr>
            <a:spLocks xmlns:a="http://schemas.openxmlformats.org/drawingml/2006/main" noGrp="1"/>
          </p:cNvSpPr>
          <p:nvPr/>
        </p:nvSpPr>
        <p:spPr>
          <a:xfrm xmlns:a="http://schemas.openxmlformats.org/drawingml/2006/main">
            <a:off x="609600" y="2409825"/>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C615A"/>
                </a:solidFill>
                <a:latin typeface="Arial"/>
                <a:ea typeface="Arial"/>
                <a:cs typeface="Arial"/>
              </a:defRPr>
            </a:pPr>
            <a:r>
              <a:rPr sz="2400" b="1">
                <a:solidFill>
                  <a:srgbClr val="0C615A"/>
                </a:solidFill>
                <a:latin typeface="Arial"/>
                <a:ea typeface="Arial"/>
                <a:cs typeface="Arial"/>
              </a:rPr>
              <a:t>Read the original.</a:t>
            </a:r>
          </a:p>
        </p:txBody>
      </p:sp>
      <p:sp>
        <p:nvSpPr>
          <p:cNvPr id="6" name="">
            <a:extLst xmlns:a="http://schemas.openxmlformats.org/drawingml/2006/main">
              <a:ext uri="{FF2B5EF4-FFF2-40B4-BE49-F238E27FC236}">
                <a16:creationId xmlns:a16="http://schemas.microsoft.com/office/drawing/2014/main" id="{A2763647-BBA2-47AA-B631-1DBB08ED39B4}"/>
              </a:ext>
            </a:extLst>
          </p:cNvPr>
          <p:cNvSpPr>
            <a:spLocks xmlns:a="http://schemas.openxmlformats.org/drawingml/2006/main" noGrp="1"/>
          </p:cNvSpPr>
          <p:nvPr/>
        </p:nvSpPr>
        <p:spPr>
          <a:xfrm xmlns:a="http://schemas.openxmlformats.org/drawingml/2006/main">
            <a:off x="609600" y="3219450"/>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C615A"/>
                </a:solidFill>
                <a:latin typeface="Arial"/>
                <a:ea typeface="Arial"/>
                <a:cs typeface="Arial"/>
              </a:defRPr>
            </a:pPr>
            <a:r>
              <a:rPr sz="2400" b="1">
                <a:solidFill>
                  <a:srgbClr val="0C615A"/>
                </a:solidFill>
                <a:latin typeface="Arial"/>
                <a:ea typeface="Arial"/>
                <a:cs typeface="Arial"/>
              </a:rPr>
              <a:t>Review the context.</a:t>
            </a:r>
          </a:p>
        </p:txBody>
      </p:sp>
      <p:sp>
        <p:nvSpPr>
          <p:cNvPr id="7" name="">
            <a:extLst xmlns:a="http://schemas.openxmlformats.org/drawingml/2006/main">
              <a:ext uri="{FF2B5EF4-FFF2-40B4-BE49-F238E27FC236}">
                <a16:creationId xmlns:a16="http://schemas.microsoft.com/office/drawing/2014/main" id="{19C1A7CD-D00C-46AB-B4F6-18D3348F9329}"/>
              </a:ext>
            </a:extLst>
          </p:cNvPr>
          <p:cNvSpPr>
            <a:spLocks xmlns:a="http://schemas.openxmlformats.org/drawingml/2006/main" noGrp="1"/>
          </p:cNvSpPr>
          <p:nvPr/>
        </p:nvSpPr>
        <p:spPr>
          <a:xfrm xmlns:a="http://schemas.openxmlformats.org/drawingml/2006/main">
            <a:off x="609600" y="4029075"/>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C615A"/>
                </a:solidFill>
                <a:latin typeface="Arial"/>
                <a:ea typeface="Arial"/>
                <a:cs typeface="Arial"/>
              </a:defRPr>
            </a:pPr>
            <a:r>
              <a:rPr sz="2400" b="1">
                <a:solidFill>
                  <a:srgbClr val="0C615A"/>
                </a:solidFill>
                <a:latin typeface="Arial"/>
                <a:ea typeface="Arial"/>
                <a:cs typeface="Arial"/>
              </a:rPr>
              <a:t>Send one useful reply.</a:t>
            </a:r>
          </a:p>
        </p:txBody>
      </p:sp>
      <p:sp>
        <p:nvSpPr>
          <p:cNvPr id="8" name="">
            <a:extLst xmlns:a="http://schemas.openxmlformats.org/drawingml/2006/main">
              <a:ext uri="{FF2B5EF4-FFF2-40B4-BE49-F238E27FC236}">
                <a16:creationId xmlns:a16="http://schemas.microsoft.com/office/drawing/2014/main" id="{03B0C413-2EED-490C-9946-9E1A2AED513D}"/>
              </a:ext>
            </a:extLst>
          </p:cNvPr>
          <p:cNvSpPr>
            <a:spLocks xmlns:a="http://schemas.openxmlformats.org/drawingml/2006/main" noGrp="1"/>
          </p:cNvSpPr>
          <p:nvPr/>
        </p:nvSpPr>
        <p:spPr>
          <a:xfrm xmlns:a="http://schemas.openxmlformats.org/drawingml/2006/main">
            <a:off x="609600" y="5238750"/>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The coach stays responsible</a:t>
            </a:r>
          </a:p>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for the advice.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ccccd5c580648ef"/>
          <a:stretch xmlns:a="http://schemas.openxmlformats.org/drawingml/2006/main"/>
        </p:blipFill>
        <p:spPr>
          <a:xfrm xmlns:a="http://schemas.openxmlformats.org/drawingml/2006/main">
            <a:off x="6310360" y="2162175"/>
            <a:ext cx="4409980" cy="3962400"/>
          </a:xfrm>
          <a:prstGeom xmlns:a="http://schemas.openxmlformats.org/drawingml/2006/main" prst="rect">
            <a:avLst/>
          </a:prstGeom>
        </p:spPr>
      </p:pic>
    </p:spTree>
    <p:extLst>
      <p:ext uri="{BB962C8B-B14F-4D97-AF65-F5344CB8AC3E}">
        <p14:creationId xmlns:p14="http://schemas.microsoft.com/office/powerpoint/2010/main" val="738988639"/>
      </p:ext>
    </p:extLst>
  </p:cSld>
</p:sld>
</file>

<file path=ppt/slides/slide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54416A-6562-4650-8E52-F37074D8CFA6}"/>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04 / BEFORE THE NEXT CLASS</a:t>
            </a:r>
          </a:p>
        </p:txBody>
      </p:sp>
      <p:sp>
        <p:nvSpPr>
          <p:cNvPr id="2" name="">
            <a:extLst xmlns:a="http://schemas.openxmlformats.org/drawingml/2006/main">
              <a:ext uri="{FF2B5EF4-FFF2-40B4-BE49-F238E27FC236}">
                <a16:creationId xmlns:a16="http://schemas.microsoft.com/office/drawing/2014/main" id="{724CBB4C-D203-435E-9E84-20BD1B6D1A6D}"/>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Walk in knowing what needs attention.</a:t>
            </a:r>
          </a:p>
        </p:txBody>
      </p:sp>
      <p:sp>
        <p:nvSpPr>
          <p:cNvPr id="3" name="">
            <a:extLst xmlns:a="http://schemas.openxmlformats.org/drawingml/2006/main">
              <a:ext uri="{FF2B5EF4-FFF2-40B4-BE49-F238E27FC236}">
                <a16:creationId xmlns:a16="http://schemas.microsoft.com/office/drawing/2014/main" id="{2DF6DC18-989A-4710-B87F-86CC4AB53F04}"/>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CORNERWORK  /  FOUNDING GYM CONVERSATION</a:t>
            </a:r>
          </a:p>
        </p:txBody>
      </p:sp>
      <p:sp>
        <p:nvSpPr>
          <p:cNvPr id="4" name="">
            <a:extLst xmlns:a="http://schemas.openxmlformats.org/drawingml/2006/main">
              <a:ext uri="{FF2B5EF4-FFF2-40B4-BE49-F238E27FC236}">
                <a16:creationId xmlns:a16="http://schemas.microsoft.com/office/drawing/2014/main" id="{EBA66033-3467-4E9D-A204-143C7AB6A14B}"/>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39EBB24A-B93A-4187-9073-A12689A3148C}"/>
              </a:ext>
            </a:extLst>
          </p:cNvPr>
          <p:cNvSpPr>
            <a:spLocks xmlns:a="http://schemas.openxmlformats.org/drawingml/2006/main" noGrp="1"/>
          </p:cNvSpPr>
          <p:nvPr/>
        </p:nvSpPr>
        <p:spPr>
          <a:xfrm xmlns:a="http://schemas.openxmlformats.org/drawingml/2006/main">
            <a:off x="609600" y="2352675"/>
            <a:ext cx="331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C615A"/>
                </a:solidFill>
                <a:latin typeface="Arial"/>
                <a:ea typeface="Arial"/>
                <a:cs typeface="Arial"/>
              </a:defRPr>
            </a:pPr>
            <a:r>
              <a:rPr sz="2250" b="1">
                <a:solidFill>
                  <a:srgbClr val="0C615A"/>
                </a:solidFill>
                <a:latin typeface="Arial"/>
                <a:ea typeface="Arial"/>
                <a:cs typeface="Arial"/>
              </a:rPr>
              <a:t>Who is coming?</a:t>
            </a:r>
          </a:p>
        </p:txBody>
      </p:sp>
      <p:sp>
        <p:nvSpPr>
          <p:cNvPr id="6" name="">
            <a:extLst xmlns:a="http://schemas.openxmlformats.org/drawingml/2006/main">
              <a:ext uri="{FF2B5EF4-FFF2-40B4-BE49-F238E27FC236}">
                <a16:creationId xmlns:a16="http://schemas.microsoft.com/office/drawing/2014/main" id="{48424970-64AD-4B5C-8606-802104997E85}"/>
              </a:ext>
            </a:extLst>
          </p:cNvPr>
          <p:cNvSpPr>
            <a:spLocks xmlns:a="http://schemas.openxmlformats.org/drawingml/2006/main" noGrp="1"/>
          </p:cNvSpPr>
          <p:nvPr/>
        </p:nvSpPr>
        <p:spPr>
          <a:xfrm xmlns:a="http://schemas.openxmlformats.org/drawingml/2006/main">
            <a:off x="609600" y="3228975"/>
            <a:ext cx="34480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C615A"/>
                </a:solidFill>
                <a:latin typeface="Arial"/>
                <a:ea typeface="Arial"/>
                <a:cs typeface="Arial"/>
              </a:defRPr>
            </a:pPr>
            <a:r>
              <a:rPr sz="2250" b="1">
                <a:solidFill>
                  <a:srgbClr val="0C615A"/>
                </a:solidFill>
                <a:latin typeface="Arial"/>
                <a:ea typeface="Arial"/>
                <a:cs typeface="Arial"/>
              </a:rPr>
              <a:t>What have they</a:t>
            </a:r>
          </a:p>
          <a:p xmlns:a="http://schemas.openxmlformats.org/drawingml/2006/main">
            <a:pPr>
              <a:defRPr sz="2250" b="1">
                <a:solidFill>
                  <a:srgbClr val="0C615A"/>
                </a:solidFill>
                <a:latin typeface="Arial"/>
                <a:ea typeface="Arial"/>
                <a:cs typeface="Arial"/>
              </a:defRPr>
            </a:pPr>
            <a:r>
              <a:rPr sz="2250" b="1">
                <a:solidFill>
                  <a:srgbClr val="0C615A"/>
                </a:solidFill>
                <a:latin typeface="Arial"/>
                <a:ea typeface="Arial"/>
                <a:cs typeface="Arial"/>
              </a:rPr>
              <a:t>been working on?</a:t>
            </a:r>
          </a:p>
        </p:txBody>
      </p:sp>
      <p:sp>
        <p:nvSpPr>
          <p:cNvPr id="7" name="">
            <a:extLst xmlns:a="http://schemas.openxmlformats.org/drawingml/2006/main">
              <a:ext uri="{FF2B5EF4-FFF2-40B4-BE49-F238E27FC236}">
                <a16:creationId xmlns:a16="http://schemas.microsoft.com/office/drawing/2014/main" id="{73FF00CC-C75A-4362-BCC1-A25FAF4F192D}"/>
              </a:ext>
            </a:extLst>
          </p:cNvPr>
          <p:cNvSpPr>
            <a:spLocks xmlns:a="http://schemas.openxmlformats.org/drawingml/2006/main" noGrp="1"/>
          </p:cNvSpPr>
          <p:nvPr/>
        </p:nvSpPr>
        <p:spPr>
          <a:xfrm xmlns:a="http://schemas.openxmlformats.org/drawingml/2006/main">
            <a:off x="609600" y="4533900"/>
            <a:ext cx="34480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C615A"/>
                </a:solidFill>
                <a:latin typeface="Arial"/>
                <a:ea typeface="Arial"/>
                <a:cs typeface="Arial"/>
              </a:defRPr>
            </a:pPr>
            <a:r>
              <a:rPr sz="2250" b="1">
                <a:solidFill>
                  <a:srgbClr val="0C615A"/>
                </a:solidFill>
                <a:latin typeface="Arial"/>
                <a:ea typeface="Arial"/>
                <a:cs typeface="Arial"/>
              </a:rPr>
              <a:t>What should the</a:t>
            </a:r>
          </a:p>
          <a:p xmlns:a="http://schemas.openxmlformats.org/drawingml/2006/main">
            <a:pPr>
              <a:defRPr sz="2250" b="1">
                <a:solidFill>
                  <a:srgbClr val="0C615A"/>
                </a:solidFill>
                <a:latin typeface="Arial"/>
                <a:ea typeface="Arial"/>
                <a:cs typeface="Arial"/>
              </a:defRPr>
            </a:pPr>
            <a:r>
              <a:rPr sz="2250" b="1">
                <a:solidFill>
                  <a:srgbClr val="0C615A"/>
                </a:solidFill>
                <a:latin typeface="Arial"/>
                <a:ea typeface="Arial"/>
                <a:cs typeface="Arial"/>
              </a:rPr>
              <a:t>coach follow up on?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a19feb20ec94d7a"/>
          <a:stretch xmlns:a="http://schemas.openxmlformats.org/drawingml/2006/main"/>
        </p:blipFill>
        <p:spPr>
          <a:xfrm xmlns:a="http://schemas.openxmlformats.org/drawingml/2006/main">
            <a:off x="5170560" y="2019300"/>
            <a:ext cx="5508480" cy="4133850"/>
          </a:xfrm>
          <a:prstGeom xmlns:a="http://schemas.openxmlformats.org/drawingml/2006/main" prst="rect">
            <a:avLst/>
          </a:prstGeom>
        </p:spPr>
      </p:pic>
    </p:spTree>
    <p:extLst>
      <p:ext uri="{BB962C8B-B14F-4D97-AF65-F5344CB8AC3E}">
        <p14:creationId xmlns:p14="http://schemas.microsoft.com/office/powerpoint/2010/main" val="1162137922"/>
      </p:ext>
    </p:extLst>
  </p:cSld>
</p:sld>
</file>

<file path=ppt/slides/slide1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55DA43E-9CC1-4EFC-A84D-A366192993D4}"/>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TECH DETAILS</a:t>
            </a:r>
          </a:p>
        </p:txBody>
      </p:sp>
      <p:sp>
        <p:nvSpPr>
          <p:cNvPr id="2" name="">
            <a:extLst xmlns:a="http://schemas.openxmlformats.org/drawingml/2006/main">
              <a:ext uri="{FF2B5EF4-FFF2-40B4-BE49-F238E27FC236}">
                <a16:creationId xmlns:a16="http://schemas.microsoft.com/office/drawing/2014/main" id="{8434FCE5-BD63-45BC-AC1D-6093A2F84AE2}"/>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Two connections. One coaching product.</a:t>
            </a:r>
          </a:p>
        </p:txBody>
      </p:sp>
      <p:sp>
        <p:nvSpPr>
          <p:cNvPr id="3" name="">
            <a:extLst xmlns:a="http://schemas.openxmlformats.org/drawingml/2006/main">
              <a:ext uri="{FF2B5EF4-FFF2-40B4-BE49-F238E27FC236}">
                <a16:creationId xmlns:a16="http://schemas.microsoft.com/office/drawing/2014/main" id="{A86FD330-2F50-42DB-888C-11E09F5E1E53}"/>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CORNERWORK  /  FOUNDING GYM CONVERSATION</a:t>
            </a:r>
          </a:p>
        </p:txBody>
      </p:sp>
      <p:sp>
        <p:nvSpPr>
          <p:cNvPr id="4" name="">
            <a:extLst xmlns:a="http://schemas.openxmlformats.org/drawingml/2006/main">
              <a:ext uri="{FF2B5EF4-FFF2-40B4-BE49-F238E27FC236}">
                <a16:creationId xmlns:a16="http://schemas.microsoft.com/office/drawing/2014/main" id="{6E54AEE3-4D5E-43B1-8FBC-684E851BDA3B}"/>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281D4B26-BD83-4756-B249-32E02963AA51}"/>
              </a:ext>
            </a:extLst>
          </p:cNvPr>
          <p:cNvSpPr>
            <a:spLocks xmlns:a="http://schemas.openxmlformats.org/drawingml/2006/main" noGrp="1"/>
          </p:cNvSpPr>
          <p:nvPr/>
        </p:nvSpPr>
        <p:spPr>
          <a:xfrm xmlns:a="http://schemas.openxmlformats.org/drawingml/2006/main">
            <a:off x="609600" y="22669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C615A"/>
                </a:solidFill>
                <a:latin typeface="Arial"/>
                <a:ea typeface="Arial"/>
                <a:cs typeface="Arial"/>
              </a:defRPr>
            </a:pPr>
            <a:r>
              <a:rPr sz="1500" b="1">
                <a:solidFill>
                  <a:srgbClr val="0C615A"/>
                </a:solidFill>
                <a:latin typeface="Arial"/>
                <a:ea typeface="Arial"/>
                <a:cs typeface="Arial"/>
              </a:rPr>
              <a:t>FEASIBLE, WITH ONGOING INTEGRATION WORK</a:t>
            </a:r>
          </a:p>
        </p:txBody>
      </p:sp>
      <p:sp>
        <p:nvSpPr>
          <p:cNvPr id="6" name="">
            <a:extLst xmlns:a="http://schemas.openxmlformats.org/drawingml/2006/main">
              <a:ext uri="{FF2B5EF4-FFF2-40B4-BE49-F238E27FC236}">
                <a16:creationId xmlns:a16="http://schemas.microsoft.com/office/drawing/2014/main" id="{6BB9AC83-A5C5-44CD-83F6-46BB2C91B2E8}"/>
              </a:ext>
            </a:extLst>
          </p:cNvPr>
          <p:cNvSpPr>
            <a:spLocks xmlns:a="http://schemas.openxmlformats.org/drawingml/2006/main" noGrp="1"/>
          </p:cNvSpPr>
          <p:nvPr/>
        </p:nvSpPr>
        <p:spPr>
          <a:xfrm xmlns:a="http://schemas.openxmlformats.org/drawingml/2006/main">
            <a:off x="609600" y="2819400"/>
            <a:ext cx="1085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191C"/>
                </a:solidFill>
                <a:latin typeface="Arial"/>
                <a:ea typeface="Arial"/>
                <a:cs typeface="Arial"/>
              </a:defRPr>
            </a:pPr>
            <a:r>
              <a:rPr sz="2325" b="0">
                <a:solidFill>
                  <a:srgbClr val="17191C"/>
                </a:solidFill>
                <a:latin typeface="Arial"/>
                <a:ea typeface="Arial"/>
                <a:cs typeface="Arial"/>
              </a:rPr>
              <a:t>Build a separate connection for each platform. Both feed the same</a:t>
            </a:r>
          </a:p>
          <a:p xmlns:a="http://schemas.openxmlformats.org/drawingml/2006/main">
            <a:pPr>
              <a:defRPr sz="2325" b="0">
                <a:solidFill>
                  <a:srgbClr val="17191C"/>
                </a:solidFill>
                <a:latin typeface="Arial"/>
                <a:ea typeface="Arial"/>
                <a:cs typeface="Arial"/>
              </a:defRPr>
            </a:pPr>
            <a:r>
              <a:rPr sz="2325" b="0">
                <a:solidFill>
                  <a:srgbClr val="17191C"/>
                </a:solidFill>
                <a:latin typeface="Arial"/>
                <a:ea typeface="Arial"/>
                <a:cs typeface="Arial"/>
              </a:rPr>
              <a:t>member, class and attendance records into Cornerwork.</a:t>
            </a:r>
          </a:p>
        </p:txBody>
      </p:sp>
      <p:sp>
        <p:nvSpPr>
          <p:cNvPr id="7" name="">
            <a:extLst xmlns:a="http://schemas.openxmlformats.org/drawingml/2006/main">
              <a:ext uri="{FF2B5EF4-FFF2-40B4-BE49-F238E27FC236}">
                <a16:creationId xmlns:a16="http://schemas.microsoft.com/office/drawing/2014/main" id="{AC3A226E-A2B2-4658-801A-AC9503DF7031}"/>
              </a:ext>
            </a:extLst>
          </p:cNvPr>
          <p:cNvSpPr>
            <a:spLocks xmlns:a="http://schemas.openxmlformats.org/drawingml/2006/main" noGrp="1"/>
          </p:cNvSpPr>
          <p:nvPr/>
        </p:nvSpPr>
        <p:spPr>
          <a:xfrm xmlns:a="http://schemas.openxmlformats.org/drawingml/2006/main">
            <a:off x="609600" y="3943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91C"/>
                </a:solidFill>
                <a:latin typeface="Arial"/>
                <a:ea typeface="Arial"/>
                <a:cs typeface="Arial"/>
              </a:defRPr>
            </a:pPr>
            <a:r>
              <a:rPr sz="2025" b="0">
                <a:solidFill>
                  <a:srgbClr val="17191C"/>
                </a:solidFill>
                <a:latin typeface="Arial"/>
                <a:ea typeface="Arial"/>
                <a:cs typeface="Arial"/>
              </a:rPr>
              <a:t>Gymdesk: start by testing its Zapier connection.</a:t>
            </a:r>
          </a:p>
          <a:p xmlns:a="http://schemas.openxmlformats.org/drawingml/2006/main">
            <a:pPr>
              <a:defRPr sz="2025" b="0">
                <a:solidFill>
                  <a:srgbClr val="17191C"/>
                </a:solidFill>
                <a:latin typeface="Arial"/>
                <a:ea typeface="Arial"/>
                <a:cs typeface="Arial"/>
              </a:defRPr>
            </a:pPr>
            <a:r>
              <a:rPr sz="2025" b="0">
                <a:solidFill>
                  <a:srgbClr val="17191C"/>
                </a:solidFill>
                <a:latin typeface="Arial"/>
                <a:ea typeface="Arial"/>
                <a:cs typeface="Arial"/>
              </a:rPr>
              <a:t>Mindbody: use its APIs and event updates, with approved access.</a:t>
            </a:r>
          </a:p>
        </p:txBody>
      </p:sp>
      <p:sp>
        <p:nvSpPr>
          <p:cNvPr id="8" name="">
            <a:extLst xmlns:a="http://schemas.openxmlformats.org/drawingml/2006/main">
              <a:ext uri="{FF2B5EF4-FFF2-40B4-BE49-F238E27FC236}">
                <a16:creationId xmlns:a16="http://schemas.microsoft.com/office/drawing/2014/main" id="{BCDDD5BE-C8E3-4EBA-8018-4D44B913B019}"/>
              </a:ext>
            </a:extLst>
          </p:cNvPr>
          <p:cNvSpPr>
            <a:spLocks xmlns:a="http://schemas.openxmlformats.org/drawingml/2006/main" noGrp="1"/>
          </p:cNvSpPr>
          <p:nvPr/>
        </p:nvSpPr>
        <p:spPr>
          <a:xfrm xmlns:a="http://schemas.openxmlformats.org/drawingml/2006/main">
            <a:off x="609600" y="51625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C615A"/>
                </a:solidFill>
                <a:latin typeface="Arial"/>
                <a:ea typeface="Arial"/>
                <a:cs typeface="Arial"/>
              </a:defRPr>
            </a:pPr>
            <a:r>
              <a:rPr sz="2025" b="1">
                <a:solidFill>
                  <a:srgbClr val="0C615A"/>
                </a:solidFill>
                <a:latin typeface="Arial"/>
                <a:ea typeface="Arial"/>
                <a:cs typeface="Arial"/>
              </a:rPr>
              <a:t>The hard part is reliable syncing: no-shows, duplicate updates,</a:t>
            </a:r>
          </a:p>
          <a:p xmlns:a="http://schemas.openxmlformats.org/drawingml/2006/main">
            <a:pPr>
              <a:defRPr sz="2025" b="1">
                <a:solidFill>
                  <a:srgbClr val="0C615A"/>
                </a:solidFill>
                <a:latin typeface="Arial"/>
                <a:ea typeface="Arial"/>
                <a:cs typeface="Arial"/>
              </a:defRPr>
            </a:pPr>
            <a:r>
              <a:rPr sz="2025" b="1">
                <a:solidFill>
                  <a:srgbClr val="0C615A"/>
                </a:solidFill>
                <a:latin typeface="Arial"/>
                <a:ea typeface="Arial"/>
                <a:cs typeface="Arial"/>
              </a:rPr>
              <a:t>permissions and platform changes. Neither is live in this demo.</a:t>
            </a:r>
          </a:p>
        </p:txBody>
      </p:sp>
    </p:spTree>
    <p:extLst>
      <p:ext uri="{BB962C8B-B14F-4D97-AF65-F5344CB8AC3E}">
        <p14:creationId xmlns:p14="http://schemas.microsoft.com/office/powerpoint/2010/main" val="672272258"/>
      </p:ext>
    </p:extLst>
  </p:cSld>
</p:sld>
</file>

<file path=ppt/slides/slide11.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E54F142-AB70-4D13-80C9-BFFECF581B7F}"/>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INTEGRATION TEST</a:t>
            </a:r>
          </a:p>
        </p:txBody>
      </p:sp>
      <p:sp>
        <p:nvSpPr>
          <p:cNvPr id="2" name="">
            <a:extLst xmlns:a="http://schemas.openxmlformats.org/drawingml/2006/main">
              <a:ext uri="{FF2B5EF4-FFF2-40B4-BE49-F238E27FC236}">
                <a16:creationId xmlns:a16="http://schemas.microsoft.com/office/drawing/2014/main" id="{B7A68E6C-7003-42E4-BDB7-39A0EF19C246}"/>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Start with one gym. Prove the full loop.</a:t>
            </a:r>
          </a:p>
        </p:txBody>
      </p:sp>
      <p:sp>
        <p:nvSpPr>
          <p:cNvPr id="3" name="">
            <a:extLst xmlns:a="http://schemas.openxmlformats.org/drawingml/2006/main">
              <a:ext uri="{FF2B5EF4-FFF2-40B4-BE49-F238E27FC236}">
                <a16:creationId xmlns:a16="http://schemas.microsoft.com/office/drawing/2014/main" id="{23E1EBE7-7029-4482-8F21-31C2F6E4E485}"/>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CORNERWORK  /  FOUNDING GYM CONVERSATION</a:t>
            </a:r>
          </a:p>
        </p:txBody>
      </p:sp>
      <p:sp>
        <p:nvSpPr>
          <p:cNvPr id="4" name="">
            <a:extLst xmlns:a="http://schemas.openxmlformats.org/drawingml/2006/main">
              <a:ext uri="{FF2B5EF4-FFF2-40B4-BE49-F238E27FC236}">
                <a16:creationId xmlns:a16="http://schemas.microsoft.com/office/drawing/2014/main" id="{4485A782-50D8-48BE-9394-D9AB335AFB62}"/>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B2A92D3D-6170-41E6-84FE-C7F27DDE7F50}"/>
              </a:ext>
            </a:extLst>
          </p:cNvPr>
          <p:cNvSpPr>
            <a:spLocks xmlns:a="http://schemas.openxmlformats.org/drawingml/2006/main" noGrp="1"/>
          </p:cNvSpPr>
          <p:nvPr/>
        </p:nvSpPr>
        <p:spPr>
          <a:xfrm xmlns:a="http://schemas.openxmlformats.org/drawingml/2006/main">
            <a:off x="609600" y="2286000"/>
            <a:ext cx="500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C615A"/>
                </a:solidFill>
                <a:latin typeface="Arial"/>
                <a:ea typeface="Arial"/>
                <a:cs typeface="Arial"/>
              </a:defRPr>
            </a:pPr>
            <a:r>
              <a:rPr sz="1425" b="1">
                <a:solidFill>
                  <a:srgbClr val="0C615A"/>
                </a:solidFill>
                <a:latin typeface="Arial"/>
                <a:ea typeface="Arial"/>
                <a:cs typeface="Arial"/>
              </a:rPr>
              <a:t>GYMDESK FIRST</a:t>
            </a:r>
          </a:p>
        </p:txBody>
      </p:sp>
      <p:sp>
        <p:nvSpPr>
          <p:cNvPr id="6" name="">
            <a:extLst xmlns:a="http://schemas.openxmlformats.org/drawingml/2006/main">
              <a:ext uri="{FF2B5EF4-FFF2-40B4-BE49-F238E27FC236}">
                <a16:creationId xmlns:a16="http://schemas.microsoft.com/office/drawing/2014/main" id="{BC4D7358-6273-4E87-BD7D-9C2FE1F980B0}"/>
              </a:ext>
            </a:extLst>
          </p:cNvPr>
          <p:cNvSpPr>
            <a:spLocks xmlns:a="http://schemas.openxmlformats.org/drawingml/2006/main" noGrp="1"/>
          </p:cNvSpPr>
          <p:nvPr/>
        </p:nvSpPr>
        <p:spPr>
          <a:xfrm xmlns:a="http://schemas.openxmlformats.org/drawingml/2006/main">
            <a:off x="609600" y="2857500"/>
            <a:ext cx="5000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7191C"/>
                </a:solidFill>
                <a:latin typeface="Arial"/>
                <a:ea typeface="Arial"/>
                <a:cs typeface="Arial"/>
              </a:defRPr>
            </a:pPr>
            <a:r>
              <a:rPr sz="2475" b="1">
                <a:solidFill>
                  <a:srgbClr val="17191C"/>
                </a:solidFill>
                <a:latin typeface="Arial"/>
                <a:ea typeface="Arial"/>
                <a:cs typeface="Arial"/>
              </a:rPr>
              <a:t>Check-In trigger via Zapier</a:t>
            </a:r>
          </a:p>
        </p:txBody>
      </p:sp>
      <p:sp>
        <p:nvSpPr>
          <p:cNvPr id="7" name="">
            <a:extLst xmlns:a="http://schemas.openxmlformats.org/drawingml/2006/main">
              <a:ext uri="{FF2B5EF4-FFF2-40B4-BE49-F238E27FC236}">
                <a16:creationId xmlns:a16="http://schemas.microsoft.com/office/drawing/2014/main" id="{8C0B92EF-FBDD-4EC8-A898-A8CE6C38E079}"/>
              </a:ext>
            </a:extLst>
          </p:cNvPr>
          <p:cNvSpPr>
            <a:spLocks xmlns:a="http://schemas.openxmlformats.org/drawingml/2006/main" noGrp="1"/>
          </p:cNvSpPr>
          <p:nvPr/>
        </p:nvSpPr>
        <p:spPr>
          <a:xfrm xmlns:a="http://schemas.openxmlformats.org/drawingml/2006/main">
            <a:off x="609600" y="3771900"/>
            <a:ext cx="4953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A6964"/>
                </a:solidFill>
                <a:latin typeface="Arial"/>
                <a:ea typeface="Arial"/>
                <a:cs typeface="Arial"/>
              </a:defRPr>
            </a:pPr>
            <a:r>
              <a:rPr sz="2025" b="0">
                <a:solidFill>
                  <a:srgbClr val="5A6964"/>
                </a:solidFill>
                <a:latin typeface="Arial"/>
                <a:ea typeface="Arial"/>
                <a:cs typeface="Arial"/>
              </a:rPr>
              <a:t>Confirm member, class and end time.</a:t>
            </a:r>
          </a:p>
          <a:p xmlns:a="http://schemas.openxmlformats.org/drawingml/2006/main">
            <a:pPr>
              <a:defRPr sz="2025" b="0">
                <a:solidFill>
                  <a:srgbClr val="5A6964"/>
                </a:solidFill>
                <a:latin typeface="Arial"/>
                <a:ea typeface="Arial"/>
                <a:cs typeface="Arial"/>
              </a:defRPr>
            </a:pPr>
            <a:r>
              <a:rPr sz="2025" b="0">
                <a:solidFill>
                  <a:srgbClr val="5A6964"/>
                </a:solidFill>
                <a:latin typeface="Arial"/>
                <a:ea typeface="Arial"/>
                <a:cs typeface="Arial"/>
              </a:rPr>
              <a:t>Then test one opted-in adult account.</a:t>
            </a:r>
          </a:p>
        </p:txBody>
      </p:sp>
      <p:sp>
        <p:nvSpPr>
          <p:cNvPr id="8" name="">
            <a:extLst xmlns:a="http://schemas.openxmlformats.org/drawingml/2006/main">
              <a:ext uri="{FF2B5EF4-FFF2-40B4-BE49-F238E27FC236}">
                <a16:creationId xmlns:a16="http://schemas.microsoft.com/office/drawing/2014/main" id="{AE0A9A9B-9522-4CFA-9BFD-68DF2505C9C9}"/>
              </a:ext>
            </a:extLst>
          </p:cNvPr>
          <p:cNvSpPr>
            <a:spLocks xmlns:a="http://schemas.openxmlformats.org/drawingml/2006/main" noGrp="1"/>
          </p:cNvSpPr>
          <p:nvPr/>
        </p:nvSpPr>
        <p:spPr>
          <a:xfrm xmlns:a="http://schemas.openxmlformats.org/drawingml/2006/main">
            <a:off x="6543675" y="2286000"/>
            <a:ext cx="500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C615A"/>
                </a:solidFill>
                <a:latin typeface="Arial"/>
                <a:ea typeface="Arial"/>
                <a:cs typeface="Arial"/>
              </a:defRPr>
            </a:pPr>
            <a:r>
              <a:rPr sz="1425" b="1">
                <a:solidFill>
                  <a:srgbClr val="0C615A"/>
                </a:solidFill>
                <a:latin typeface="Arial"/>
                <a:ea typeface="Arial"/>
                <a:cs typeface="Arial"/>
              </a:rPr>
              <a:t>MINDBODY PATH</a:t>
            </a:r>
          </a:p>
        </p:txBody>
      </p:sp>
      <p:sp>
        <p:nvSpPr>
          <p:cNvPr id="9" name="">
            <a:extLst xmlns:a="http://schemas.openxmlformats.org/drawingml/2006/main">
              <a:ext uri="{FF2B5EF4-FFF2-40B4-BE49-F238E27FC236}">
                <a16:creationId xmlns:a16="http://schemas.microsoft.com/office/drawing/2014/main" id="{5F02275C-5F7D-463C-99DE-E2F4BDA06612}"/>
              </a:ext>
            </a:extLst>
          </p:cNvPr>
          <p:cNvSpPr>
            <a:spLocks xmlns:a="http://schemas.openxmlformats.org/drawingml/2006/main" noGrp="1"/>
          </p:cNvSpPr>
          <p:nvPr/>
        </p:nvSpPr>
        <p:spPr>
          <a:xfrm xmlns:a="http://schemas.openxmlformats.org/drawingml/2006/main">
            <a:off x="6543675" y="2857500"/>
            <a:ext cx="5000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7191C"/>
                </a:solidFill>
                <a:latin typeface="Arial"/>
                <a:ea typeface="Arial"/>
                <a:cs typeface="Arial"/>
              </a:defRPr>
            </a:pPr>
            <a:r>
              <a:rPr sz="2475" b="1">
                <a:solidFill>
                  <a:srgbClr val="17191C"/>
                </a:solidFill>
                <a:latin typeface="Arial"/>
                <a:ea typeface="Arial"/>
                <a:cs typeface="Arial"/>
              </a:rPr>
              <a:t>Roster events + signed-in status</a:t>
            </a:r>
          </a:p>
        </p:txBody>
      </p:sp>
      <p:sp>
        <p:nvSpPr>
          <p:cNvPr id="10" name="">
            <a:extLst xmlns:a="http://schemas.openxmlformats.org/drawingml/2006/main">
              <a:ext uri="{FF2B5EF4-FFF2-40B4-BE49-F238E27FC236}">
                <a16:creationId xmlns:a16="http://schemas.microsoft.com/office/drawing/2014/main" id="{80D87160-662F-4FFF-9B8E-B0E25E8F2F75}"/>
              </a:ext>
            </a:extLst>
          </p:cNvPr>
          <p:cNvSpPr>
            <a:spLocks xmlns:a="http://schemas.openxmlformats.org/drawingml/2006/main" noGrp="1"/>
          </p:cNvSpPr>
          <p:nvPr/>
        </p:nvSpPr>
        <p:spPr>
          <a:xfrm xmlns:a="http://schemas.openxmlformats.org/drawingml/2006/main">
            <a:off x="6543675" y="3924300"/>
            <a:ext cx="4953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A6964"/>
                </a:solidFill>
                <a:latin typeface="Arial"/>
                <a:ea typeface="Arial"/>
                <a:cs typeface="Arial"/>
              </a:defRPr>
            </a:pPr>
            <a:r>
              <a:rPr sz="2025" b="0">
                <a:solidFill>
                  <a:srgbClr val="5A6964"/>
                </a:solidFill>
                <a:latin typeface="Arial"/>
                <a:ea typeface="Arial"/>
                <a:cs typeface="Arial"/>
              </a:rPr>
              <a:t>Confirm access and event behavior.</a:t>
            </a:r>
          </a:p>
          <a:p xmlns:a="http://schemas.openxmlformats.org/drawingml/2006/main">
            <a:pPr>
              <a:defRPr sz="2025" b="0">
                <a:solidFill>
                  <a:srgbClr val="5A6964"/>
                </a:solidFill>
                <a:latin typeface="Arial"/>
                <a:ea typeface="Arial"/>
                <a:cs typeface="Arial"/>
              </a:defRPr>
            </a:pPr>
            <a:r>
              <a:rPr sz="2025" b="0">
                <a:solidFill>
                  <a:srgbClr val="5A6964"/>
                </a:solidFill>
                <a:latin typeface="Arial"/>
                <a:ea typeface="Arial"/>
                <a:cs typeface="Arial"/>
              </a:rPr>
              <a:t>Reuse the same coaching workflow.</a:t>
            </a:r>
          </a:p>
        </p:txBody>
      </p:sp>
      <p:sp>
        <p:nvSpPr>
          <p:cNvPr id="11" name="">
            <a:extLst xmlns:a="http://schemas.openxmlformats.org/drawingml/2006/main">
              <a:ext uri="{FF2B5EF4-FFF2-40B4-BE49-F238E27FC236}">
                <a16:creationId xmlns:a16="http://schemas.microsoft.com/office/drawing/2014/main" id="{FE93749A-E4B1-4368-9389-5E5D76B53784}"/>
              </a:ext>
            </a:extLst>
          </p:cNvPr>
          <p:cNvSpPr>
            <a:spLocks xmlns:a="http://schemas.openxmlformats.org/drawingml/2006/main" noGrp="1"/>
          </p:cNvSpPr>
          <p:nvPr/>
        </p:nvSpPr>
        <p:spPr>
          <a:xfrm xmlns:a="http://schemas.openxmlformats.org/drawingml/2006/main">
            <a:off x="609600" y="5410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C615A"/>
                </a:solidFill>
                <a:latin typeface="Arial"/>
                <a:ea typeface="Arial"/>
                <a:cs typeface="Arial"/>
              </a:defRPr>
            </a:pPr>
            <a:r>
              <a:rPr sz="1800" b="1">
                <a:solidFill>
                  <a:srgbClr val="0C615A"/>
                </a:solidFill>
                <a:latin typeface="Arial"/>
                <a:ea typeface="Arial"/>
                <a:cs typeface="Arial"/>
              </a:rPr>
              <a:t>Pass condition: one attended class → one delivered ping → reply → next-class context.</a:t>
            </a:r>
          </a:p>
        </p:txBody>
      </p:sp>
    </p:spTree>
    <p:extLst>
      <p:ext uri="{BB962C8B-B14F-4D97-AF65-F5344CB8AC3E}">
        <p14:creationId xmlns:p14="http://schemas.microsoft.com/office/powerpoint/2010/main" val="1310380357"/>
      </p:ext>
    </p:extLst>
  </p:cSld>
</p:sld>
</file>

<file path=ppt/slides/slide1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793A074-3189-47F9-BADB-1D5E49B740F9}"/>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PROTOTYPE → PILOT</a:t>
            </a:r>
          </a:p>
        </p:txBody>
      </p:sp>
      <p:sp>
        <p:nvSpPr>
          <p:cNvPr id="2" name="">
            <a:extLst xmlns:a="http://schemas.openxmlformats.org/drawingml/2006/main">
              <a:ext uri="{FF2B5EF4-FFF2-40B4-BE49-F238E27FC236}">
                <a16:creationId xmlns:a16="http://schemas.microsoft.com/office/drawing/2014/main" id="{49D928EA-0D84-44BC-826F-F3B558E04A8A}"/>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What you are seeing today.</a:t>
            </a:r>
          </a:p>
        </p:txBody>
      </p:sp>
      <p:sp>
        <p:nvSpPr>
          <p:cNvPr id="3" name="">
            <a:extLst xmlns:a="http://schemas.openxmlformats.org/drawingml/2006/main">
              <a:ext uri="{FF2B5EF4-FFF2-40B4-BE49-F238E27FC236}">
                <a16:creationId xmlns:a16="http://schemas.microsoft.com/office/drawing/2014/main" id="{5352DAA6-EA99-4AA2-8F51-B799F2B83F53}"/>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CORNERWORK  /  FOUNDING GYM CONVERSATION</a:t>
            </a:r>
          </a:p>
        </p:txBody>
      </p:sp>
      <p:sp>
        <p:nvSpPr>
          <p:cNvPr id="4" name="">
            <a:extLst xmlns:a="http://schemas.openxmlformats.org/drawingml/2006/main">
              <a:ext uri="{FF2B5EF4-FFF2-40B4-BE49-F238E27FC236}">
                <a16:creationId xmlns:a16="http://schemas.microsoft.com/office/drawing/2014/main" id="{BF8BC06B-5737-4EF5-A4A4-F7351D438456}"/>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FABE8457-0CC8-4301-B62F-3822AD094F02}"/>
              </a:ext>
            </a:extLst>
          </p:cNvPr>
          <p:cNvSpPr>
            <a:spLocks xmlns:a="http://schemas.openxmlformats.org/drawingml/2006/main" noGrp="1"/>
          </p:cNvSpPr>
          <p:nvPr/>
        </p:nvSpPr>
        <p:spPr>
          <a:xfrm xmlns:a="http://schemas.openxmlformats.org/drawingml/2006/main">
            <a:off x="609600" y="2400300"/>
            <a:ext cx="509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C615A"/>
                </a:solidFill>
                <a:latin typeface="Arial"/>
                <a:ea typeface="Arial"/>
                <a:cs typeface="Arial"/>
              </a:defRPr>
            </a:pPr>
            <a:r>
              <a:rPr sz="1425" b="1">
                <a:solidFill>
                  <a:srgbClr val="0C615A"/>
                </a:solidFill>
                <a:latin typeface="Arial"/>
                <a:ea typeface="Arial"/>
                <a:cs typeface="Arial"/>
              </a:rPr>
              <a:t>WORKING LOCALLY</a:t>
            </a:r>
          </a:p>
        </p:txBody>
      </p:sp>
      <p:sp>
        <p:nvSpPr>
          <p:cNvPr id="6" name="">
            <a:extLst xmlns:a="http://schemas.openxmlformats.org/drawingml/2006/main">
              <a:ext uri="{FF2B5EF4-FFF2-40B4-BE49-F238E27FC236}">
                <a16:creationId xmlns:a16="http://schemas.microsoft.com/office/drawing/2014/main" id="{1C8193DC-ABA4-475D-8AC2-46DA09B266D4}"/>
              </a:ext>
            </a:extLst>
          </p:cNvPr>
          <p:cNvSpPr>
            <a:spLocks xmlns:a="http://schemas.openxmlformats.org/drawingml/2006/main" noGrp="1"/>
          </p:cNvSpPr>
          <p:nvPr/>
        </p:nvSpPr>
        <p:spPr>
          <a:xfrm xmlns:a="http://schemas.openxmlformats.org/drawingml/2006/main">
            <a:off x="609600" y="2990850"/>
            <a:ext cx="51244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Member message → coach queue</a:t>
            </a:r>
          </a:p>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Coach response → conversation</a:t>
            </a:r>
          </a:p>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Recent logs → class brief</a:t>
            </a:r>
          </a:p>
        </p:txBody>
      </p:sp>
      <p:sp>
        <p:nvSpPr>
          <p:cNvPr id="7" name="">
            <a:extLst xmlns:a="http://schemas.openxmlformats.org/drawingml/2006/main">
              <a:ext uri="{FF2B5EF4-FFF2-40B4-BE49-F238E27FC236}">
                <a16:creationId xmlns:a16="http://schemas.microsoft.com/office/drawing/2014/main" id="{FF8CCCB6-6F6A-483C-AD89-6BB8981289BB}"/>
              </a:ext>
            </a:extLst>
          </p:cNvPr>
          <p:cNvSpPr>
            <a:spLocks xmlns:a="http://schemas.openxmlformats.org/drawingml/2006/main" noGrp="1"/>
          </p:cNvSpPr>
          <p:nvPr/>
        </p:nvSpPr>
        <p:spPr>
          <a:xfrm xmlns:a="http://schemas.openxmlformats.org/drawingml/2006/main">
            <a:off x="6486525" y="2400300"/>
            <a:ext cx="509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C615A"/>
                </a:solidFill>
                <a:latin typeface="Arial"/>
                <a:ea typeface="Arial"/>
                <a:cs typeface="Arial"/>
              </a:defRPr>
            </a:pPr>
            <a:r>
              <a:rPr sz="1425" b="1">
                <a:solidFill>
                  <a:srgbClr val="0C615A"/>
                </a:solidFill>
                <a:latin typeface="Arial"/>
                <a:ea typeface="Arial"/>
                <a:cs typeface="Arial"/>
              </a:rPr>
              <a:t>NEXT TO VERIFY LIVE</a:t>
            </a:r>
          </a:p>
        </p:txBody>
      </p:sp>
      <p:sp>
        <p:nvSpPr>
          <p:cNvPr id="8" name="">
            <a:extLst xmlns:a="http://schemas.openxmlformats.org/drawingml/2006/main">
              <a:ext uri="{FF2B5EF4-FFF2-40B4-BE49-F238E27FC236}">
                <a16:creationId xmlns:a16="http://schemas.microsoft.com/office/drawing/2014/main" id="{B74F0CD1-0CCE-48AE-A2E7-AE25485DF0E4}"/>
              </a:ext>
            </a:extLst>
          </p:cNvPr>
          <p:cNvSpPr>
            <a:spLocks xmlns:a="http://schemas.openxmlformats.org/drawingml/2006/main" noGrp="1"/>
          </p:cNvSpPr>
          <p:nvPr/>
        </p:nvSpPr>
        <p:spPr>
          <a:xfrm xmlns:a="http://schemas.openxmlformats.org/drawingml/2006/main">
            <a:off x="6486525" y="2990850"/>
            <a:ext cx="509587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Attendance and message delivery</a:t>
            </a:r>
          </a:p>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Real voice-note capture</a:t>
            </a:r>
          </a:p>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Staff access and reliable scheduling</a:t>
            </a:r>
          </a:p>
        </p:txBody>
      </p:sp>
      <p:sp>
        <p:nvSpPr>
          <p:cNvPr id="9" name="">
            <a:extLst xmlns:a="http://schemas.openxmlformats.org/drawingml/2006/main">
              <a:ext uri="{FF2B5EF4-FFF2-40B4-BE49-F238E27FC236}">
                <a16:creationId xmlns:a16="http://schemas.microsoft.com/office/drawing/2014/main" id="{2BA62C7C-FAD1-426F-91E3-25EE9A4717E7}"/>
              </a:ext>
            </a:extLst>
          </p:cNvPr>
          <p:cNvSpPr>
            <a:spLocks xmlns:a="http://schemas.openxmlformats.org/drawingml/2006/main" noGrp="1"/>
          </p:cNvSpPr>
          <p:nvPr/>
        </p:nvSpPr>
        <p:spPr>
          <a:xfrm xmlns:a="http://schemas.openxmlformats.org/drawingml/2006/main">
            <a:off x="609600" y="53149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C615A"/>
                </a:solidFill>
                <a:latin typeface="Arial"/>
                <a:ea typeface="Arial"/>
                <a:cs typeface="Arial"/>
              </a:defRPr>
            </a:pPr>
            <a:r>
              <a:rPr sz="2250" b="1">
                <a:solidFill>
                  <a:srgbClr val="0C615A"/>
                </a:solidFill>
                <a:latin typeface="Arial"/>
                <a:ea typeface="Arial"/>
                <a:cs typeface="Arial"/>
              </a:rPr>
              <a:t>Voice, summaries and delivery are simulated in this demo.</a:t>
            </a:r>
          </a:p>
        </p:txBody>
      </p:sp>
    </p:spTree>
    <p:extLst>
      <p:ext uri="{BB962C8B-B14F-4D97-AF65-F5344CB8AC3E}">
        <p14:creationId xmlns:p14="http://schemas.microsoft.com/office/powerpoint/2010/main" val="2035016253"/>
      </p:ext>
    </p:extLst>
  </p:cSld>
</p:sld>
</file>

<file path=ppt/slides/slide1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433C2C4-3421-402F-AFD1-B8582A545FEE}"/>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THE MODEL</a:t>
            </a:r>
          </a:p>
        </p:txBody>
      </p:sp>
      <p:sp>
        <p:nvSpPr>
          <p:cNvPr id="2" name="">
            <a:extLst xmlns:a="http://schemas.openxmlformats.org/drawingml/2006/main">
              <a:ext uri="{FF2B5EF4-FFF2-40B4-BE49-F238E27FC236}">
                <a16:creationId xmlns:a16="http://schemas.microsoft.com/office/drawing/2014/main" id="{8CE780A5-95FA-4AF9-9ECB-1955F366BB7B}"/>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A gym subscription. Optional member add-on.</a:t>
            </a:r>
          </a:p>
        </p:txBody>
      </p:sp>
      <p:sp>
        <p:nvSpPr>
          <p:cNvPr id="3" name="">
            <a:extLst xmlns:a="http://schemas.openxmlformats.org/drawingml/2006/main">
              <a:ext uri="{FF2B5EF4-FFF2-40B4-BE49-F238E27FC236}">
                <a16:creationId xmlns:a16="http://schemas.microsoft.com/office/drawing/2014/main" id="{A133C133-56C8-4EC1-9EE0-791BDA4064A4}"/>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CORNERWORK  /  FOUNDING GYM CONVERSATION</a:t>
            </a:r>
          </a:p>
        </p:txBody>
      </p:sp>
      <p:sp>
        <p:nvSpPr>
          <p:cNvPr id="4" name="">
            <a:extLst xmlns:a="http://schemas.openxmlformats.org/drawingml/2006/main">
              <a:ext uri="{FF2B5EF4-FFF2-40B4-BE49-F238E27FC236}">
                <a16:creationId xmlns:a16="http://schemas.microsoft.com/office/drawing/2014/main" id="{620FFE3D-C679-40CE-9838-C661420F1E0B}"/>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CD474573-8781-4208-BBF1-93E14481EADE}"/>
              </a:ext>
            </a:extLst>
          </p:cNvPr>
          <p:cNvSpPr>
            <a:spLocks xmlns:a="http://schemas.openxmlformats.org/drawingml/2006/main" noGrp="1"/>
          </p:cNvSpPr>
          <p:nvPr/>
        </p:nvSpPr>
        <p:spPr>
          <a:xfrm xmlns:a="http://schemas.openxmlformats.org/drawingml/2006/main">
            <a:off x="609600" y="2400300"/>
            <a:ext cx="5238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75" b="1">
                <a:solidFill>
                  <a:srgbClr val="0C615A"/>
                </a:solidFill>
                <a:latin typeface="Arial"/>
                <a:ea typeface="Arial"/>
                <a:cs typeface="Arial"/>
              </a:defRPr>
            </a:pPr>
            <a:r>
              <a:rPr sz="5475" b="1">
                <a:solidFill>
                  <a:srgbClr val="0C615A"/>
                </a:solidFill>
                <a:latin typeface="Arial"/>
                <a:ea typeface="Arial"/>
                <a:cs typeface="Arial"/>
              </a:rPr>
              <a:t>$50–100</a:t>
            </a:r>
          </a:p>
        </p:txBody>
      </p:sp>
      <p:sp>
        <p:nvSpPr>
          <p:cNvPr id="6" name="">
            <a:extLst xmlns:a="http://schemas.openxmlformats.org/drawingml/2006/main">
              <a:ext uri="{FF2B5EF4-FFF2-40B4-BE49-F238E27FC236}">
                <a16:creationId xmlns:a16="http://schemas.microsoft.com/office/drawing/2014/main" id="{415FDCD7-DF78-4221-8FF0-67829E9B4BB2}"/>
              </a:ext>
            </a:extLst>
          </p:cNvPr>
          <p:cNvSpPr>
            <a:spLocks xmlns:a="http://schemas.openxmlformats.org/drawingml/2006/main" noGrp="1"/>
          </p:cNvSpPr>
          <p:nvPr/>
        </p:nvSpPr>
        <p:spPr>
          <a:xfrm xmlns:a="http://schemas.openxmlformats.org/drawingml/2006/main">
            <a:off x="609600" y="34861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191C"/>
                </a:solidFill>
                <a:latin typeface="Arial"/>
                <a:ea typeface="Arial"/>
                <a:cs typeface="Arial"/>
              </a:defRPr>
            </a:pPr>
            <a:r>
              <a:rPr sz="2325" b="1">
                <a:solidFill>
                  <a:srgbClr val="17191C"/>
                </a:solidFill>
                <a:latin typeface="Arial"/>
                <a:ea typeface="Arial"/>
                <a:cs typeface="Arial"/>
              </a:rPr>
              <a:t>per gym / month</a:t>
            </a:r>
          </a:p>
        </p:txBody>
      </p:sp>
      <p:sp>
        <p:nvSpPr>
          <p:cNvPr id="7" name="">
            <a:extLst xmlns:a="http://schemas.openxmlformats.org/drawingml/2006/main">
              <a:ext uri="{FF2B5EF4-FFF2-40B4-BE49-F238E27FC236}">
                <a16:creationId xmlns:a16="http://schemas.microsoft.com/office/drawing/2014/main" id="{669BA666-26AA-40E3-B80C-FC80212B7EF3}"/>
              </a:ext>
            </a:extLst>
          </p:cNvPr>
          <p:cNvSpPr>
            <a:spLocks xmlns:a="http://schemas.openxmlformats.org/drawingml/2006/main" noGrp="1"/>
          </p:cNvSpPr>
          <p:nvPr/>
        </p:nvSpPr>
        <p:spPr>
          <a:xfrm xmlns:a="http://schemas.openxmlformats.org/drawingml/2006/main">
            <a:off x="609600" y="4200525"/>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A6964"/>
                </a:solidFill>
                <a:latin typeface="Arial"/>
                <a:ea typeface="Arial"/>
                <a:cs typeface="Arial"/>
              </a:defRPr>
            </a:pPr>
            <a:r>
              <a:rPr sz="2025" b="0">
                <a:solidFill>
                  <a:srgbClr val="5A6964"/>
                </a:solidFill>
                <a:latin typeface="Arial"/>
                <a:ea typeface="Arial"/>
                <a:cs typeface="Arial"/>
              </a:rPr>
              <a:t>Proposed platform pricing</a:t>
            </a:r>
          </a:p>
          <a:p xmlns:a="http://schemas.openxmlformats.org/drawingml/2006/main">
            <a:pPr>
              <a:defRPr sz="2025" b="0">
                <a:solidFill>
                  <a:srgbClr val="5A6964"/>
                </a:solidFill>
                <a:latin typeface="Arial"/>
                <a:ea typeface="Arial"/>
                <a:cs typeface="Arial"/>
              </a:defRPr>
            </a:pPr>
            <a:r>
              <a:rPr sz="2025" b="0">
                <a:solidFill>
                  <a:srgbClr val="5A6964"/>
                </a:solidFill>
                <a:latin typeface="Arial"/>
                <a:ea typeface="Arial"/>
                <a:cs typeface="Arial"/>
              </a:rPr>
              <a:t>to test with pilot gyms.</a:t>
            </a:r>
          </a:p>
        </p:txBody>
      </p:sp>
      <p:sp>
        <p:nvSpPr>
          <p:cNvPr id="8" name="">
            <a:extLst xmlns:a="http://schemas.openxmlformats.org/drawingml/2006/main">
              <a:ext uri="{FF2B5EF4-FFF2-40B4-BE49-F238E27FC236}">
                <a16:creationId xmlns:a16="http://schemas.microsoft.com/office/drawing/2014/main" id="{6716E794-3001-44EA-8B46-A14ED87BDFF0}"/>
              </a:ext>
            </a:extLst>
          </p:cNvPr>
          <p:cNvSpPr>
            <a:spLocks xmlns:a="http://schemas.openxmlformats.org/drawingml/2006/main" noGrp="1"/>
          </p:cNvSpPr>
          <p:nvPr/>
        </p:nvSpPr>
        <p:spPr>
          <a:xfrm xmlns:a="http://schemas.openxmlformats.org/drawingml/2006/main">
            <a:off x="6572250" y="2495550"/>
            <a:ext cx="5010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0C615A"/>
                </a:solidFill>
                <a:latin typeface="Arial"/>
                <a:ea typeface="Arial"/>
                <a:cs typeface="Arial"/>
              </a:defRPr>
            </a:pPr>
            <a:r>
              <a:rPr sz="3750" b="1">
                <a:solidFill>
                  <a:srgbClr val="0C615A"/>
                </a:solidFill>
                <a:latin typeface="Arial"/>
                <a:ea typeface="Arial"/>
                <a:cs typeface="Arial"/>
              </a:rPr>
              <a:t>Optional $10</a:t>
            </a:r>
          </a:p>
        </p:txBody>
      </p:sp>
      <p:sp>
        <p:nvSpPr>
          <p:cNvPr id="9" name="">
            <a:extLst xmlns:a="http://schemas.openxmlformats.org/drawingml/2006/main">
              <a:ext uri="{FF2B5EF4-FFF2-40B4-BE49-F238E27FC236}">
                <a16:creationId xmlns:a16="http://schemas.microsoft.com/office/drawing/2014/main" id="{47A2355A-5B8A-4CD5-A1DF-F35AC49E75DE}"/>
              </a:ext>
            </a:extLst>
          </p:cNvPr>
          <p:cNvSpPr>
            <a:spLocks xmlns:a="http://schemas.openxmlformats.org/drawingml/2006/main" noGrp="1"/>
          </p:cNvSpPr>
          <p:nvPr/>
        </p:nvSpPr>
        <p:spPr>
          <a:xfrm xmlns:a="http://schemas.openxmlformats.org/drawingml/2006/main">
            <a:off x="6572250" y="3486150"/>
            <a:ext cx="5010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191C"/>
                </a:solidFill>
                <a:latin typeface="Arial"/>
                <a:ea typeface="Arial"/>
                <a:cs typeface="Arial"/>
              </a:defRPr>
            </a:pPr>
            <a:r>
              <a:rPr sz="2250" b="1">
                <a:solidFill>
                  <a:srgbClr val="17191C"/>
                </a:solidFill>
                <a:latin typeface="Arial"/>
                <a:ea typeface="Arial"/>
                <a:cs typeface="Arial"/>
              </a:rPr>
              <a:t>member add-on / month</a:t>
            </a:r>
          </a:p>
        </p:txBody>
      </p:sp>
      <p:sp>
        <p:nvSpPr>
          <p:cNvPr id="10" name="">
            <a:extLst xmlns:a="http://schemas.openxmlformats.org/drawingml/2006/main">
              <a:ext uri="{FF2B5EF4-FFF2-40B4-BE49-F238E27FC236}">
                <a16:creationId xmlns:a16="http://schemas.microsoft.com/office/drawing/2014/main" id="{51D8E5F1-B9E5-4486-A8EB-0A549EEFADE4}"/>
              </a:ext>
            </a:extLst>
          </p:cNvPr>
          <p:cNvSpPr>
            <a:spLocks xmlns:a="http://schemas.openxmlformats.org/drawingml/2006/main" noGrp="1"/>
          </p:cNvSpPr>
          <p:nvPr/>
        </p:nvSpPr>
        <p:spPr>
          <a:xfrm xmlns:a="http://schemas.openxmlformats.org/drawingml/2006/main">
            <a:off x="6572250" y="4200525"/>
            <a:ext cx="5010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A6964"/>
                </a:solidFill>
                <a:latin typeface="Arial"/>
                <a:ea typeface="Arial"/>
                <a:cs typeface="Arial"/>
              </a:defRPr>
            </a:pPr>
            <a:r>
              <a:rPr sz="2025" b="0">
                <a:solidFill>
                  <a:srgbClr val="5A6964"/>
                </a:solidFill>
                <a:latin typeface="Arial"/>
                <a:ea typeface="Arial"/>
                <a:cs typeface="Arial"/>
              </a:rPr>
              <a:t>The gym chooses whether</a:t>
            </a:r>
          </a:p>
          <a:p xmlns:a="http://schemas.openxmlformats.org/drawingml/2006/main">
            <a:pPr>
              <a:defRPr sz="2025" b="0">
                <a:solidFill>
                  <a:srgbClr val="5A6964"/>
                </a:solidFill>
                <a:latin typeface="Arial"/>
                <a:ea typeface="Arial"/>
                <a:cs typeface="Arial"/>
              </a:defRPr>
            </a:pPr>
            <a:r>
              <a:rPr sz="2025" b="0">
                <a:solidFill>
                  <a:srgbClr val="5A6964"/>
                </a:solidFill>
                <a:latin typeface="Arial"/>
                <a:ea typeface="Arial"/>
                <a:cs typeface="Arial"/>
              </a:rPr>
              <a:t>to charge members separately.</a:t>
            </a:r>
          </a:p>
        </p:txBody>
      </p:sp>
      <p:sp>
        <p:nvSpPr>
          <p:cNvPr id="11" name="">
            <a:extLst xmlns:a="http://schemas.openxmlformats.org/drawingml/2006/main">
              <a:ext uri="{FF2B5EF4-FFF2-40B4-BE49-F238E27FC236}">
                <a16:creationId xmlns:a16="http://schemas.microsoft.com/office/drawing/2014/main" id="{50FFCDC1-56C6-4D78-A58F-B0477A952325}"/>
              </a:ext>
            </a:extLst>
          </p:cNvPr>
          <p:cNvSpPr>
            <a:spLocks xmlns:a="http://schemas.openxmlformats.org/drawingml/2006/main" noGrp="1"/>
          </p:cNvSpPr>
          <p:nvPr/>
        </p:nvSpPr>
        <p:spPr>
          <a:xfrm xmlns:a="http://schemas.openxmlformats.org/drawingml/2006/main">
            <a:off x="609600" y="55911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C615A"/>
                </a:solidFill>
                <a:latin typeface="Arial"/>
                <a:ea typeface="Arial"/>
                <a:cs typeface="Arial"/>
              </a:defRPr>
            </a:pPr>
            <a:r>
              <a:rPr sz="1800" b="1">
                <a:solidFill>
                  <a:srgbClr val="0C615A"/>
                </a:solidFill>
                <a:latin typeface="Arial"/>
                <a:ea typeface="Arial"/>
                <a:cs typeface="Arial"/>
              </a:rPr>
              <a:t>5–10 members cover the platform fee before coach labor and other costs.</a:t>
            </a:r>
          </a:p>
        </p:txBody>
      </p:sp>
    </p:spTree>
    <p:extLst>
      <p:ext uri="{BB962C8B-B14F-4D97-AF65-F5344CB8AC3E}">
        <p14:creationId xmlns:p14="http://schemas.microsoft.com/office/powerpoint/2010/main" val="1297306099"/>
      </p:ext>
    </p:extLst>
  </p:cSld>
</p:sld>
</file>

<file path=ppt/slides/slide1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FA160B8-8847-40EE-BF64-09602590E5FC}"/>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THE COACH’S WORK</a:t>
            </a:r>
          </a:p>
        </p:txBody>
      </p:sp>
      <p:sp>
        <p:nvSpPr>
          <p:cNvPr id="2" name="">
            <a:extLst xmlns:a="http://schemas.openxmlformats.org/drawingml/2006/main">
              <a:ext uri="{FF2B5EF4-FFF2-40B4-BE49-F238E27FC236}">
                <a16:creationId xmlns:a16="http://schemas.microsoft.com/office/drawing/2014/main" id="{66A47F93-D838-4205-99B7-1ACD39FC4203}"/>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Make the work clear before adding the tool.</a:t>
            </a:r>
          </a:p>
        </p:txBody>
      </p:sp>
      <p:sp>
        <p:nvSpPr>
          <p:cNvPr id="3" name="">
            <a:extLst xmlns:a="http://schemas.openxmlformats.org/drawingml/2006/main">
              <a:ext uri="{FF2B5EF4-FFF2-40B4-BE49-F238E27FC236}">
                <a16:creationId xmlns:a16="http://schemas.microsoft.com/office/drawing/2014/main" id="{AF6CC5C4-E3A6-4BF4-AEB0-F31BF68375F1}"/>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CORNERWORK  /  FOUNDING GYM CONVERSATION</a:t>
            </a:r>
          </a:p>
        </p:txBody>
      </p:sp>
      <p:sp>
        <p:nvSpPr>
          <p:cNvPr id="4" name="">
            <a:extLst xmlns:a="http://schemas.openxmlformats.org/drawingml/2006/main">
              <a:ext uri="{FF2B5EF4-FFF2-40B4-BE49-F238E27FC236}">
                <a16:creationId xmlns:a16="http://schemas.microsoft.com/office/drawing/2014/main" id="{082771BB-B0CF-422B-BC17-8F76EA52F652}"/>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6C6D2D08-D412-460A-8218-7879383A5AE0}"/>
              </a:ext>
            </a:extLst>
          </p:cNvPr>
          <p:cNvSpPr>
            <a:spLocks xmlns:a="http://schemas.openxmlformats.org/drawingml/2006/main" noGrp="1"/>
          </p:cNvSpPr>
          <p:nvPr/>
        </p:nvSpPr>
        <p:spPr>
          <a:xfrm xmlns:a="http://schemas.openxmlformats.org/drawingml/2006/main">
            <a:off x="609600" y="239077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C615A"/>
                </a:solidFill>
                <a:latin typeface="Arial"/>
                <a:ea typeface="Arial"/>
                <a:cs typeface="Arial"/>
              </a:defRPr>
            </a:pPr>
            <a:r>
              <a:rPr sz="2550" b="1">
                <a:solidFill>
                  <a:srgbClr val="0C615A"/>
                </a:solidFill>
                <a:latin typeface="Arial"/>
                <a:ea typeface="Arial"/>
                <a:cs typeface="Arial"/>
              </a:rPr>
              <a:t>One owner for the queue</a:t>
            </a:r>
          </a:p>
        </p:txBody>
      </p:sp>
      <p:sp>
        <p:nvSpPr>
          <p:cNvPr id="6" name="">
            <a:extLst xmlns:a="http://schemas.openxmlformats.org/drawingml/2006/main">
              <a:ext uri="{FF2B5EF4-FFF2-40B4-BE49-F238E27FC236}">
                <a16:creationId xmlns:a16="http://schemas.microsoft.com/office/drawing/2014/main" id="{55057960-0006-4C2B-84E4-AA7790C565D2}"/>
              </a:ext>
            </a:extLst>
          </p:cNvPr>
          <p:cNvSpPr>
            <a:spLocks xmlns:a="http://schemas.openxmlformats.org/drawingml/2006/main" noGrp="1"/>
          </p:cNvSpPr>
          <p:nvPr/>
        </p:nvSpPr>
        <p:spPr>
          <a:xfrm xmlns:a="http://schemas.openxmlformats.org/drawingml/2006/main">
            <a:off x="609600" y="30289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91C"/>
                </a:solidFill>
                <a:latin typeface="Arial"/>
                <a:ea typeface="Arial"/>
                <a:cs typeface="Arial"/>
              </a:defRPr>
            </a:pPr>
            <a:r>
              <a:rPr sz="2025" b="0">
                <a:solidFill>
                  <a:srgbClr val="17191C"/>
                </a:solidFill>
                <a:latin typeface="Arial"/>
                <a:ea typeface="Arial"/>
                <a:cs typeface="Arial"/>
              </a:rPr>
              <a:t>Decide who responds and who covers an absent coach.</a:t>
            </a:r>
          </a:p>
        </p:txBody>
      </p:sp>
      <p:sp>
        <p:nvSpPr>
          <p:cNvPr id="7" name="">
            <a:extLst xmlns:a="http://schemas.openxmlformats.org/drawingml/2006/main">
              <a:ext uri="{FF2B5EF4-FFF2-40B4-BE49-F238E27FC236}">
                <a16:creationId xmlns:a16="http://schemas.microsoft.com/office/drawing/2014/main" id="{0778F165-C35F-428C-8319-8B599C52A862}"/>
              </a:ext>
            </a:extLst>
          </p:cNvPr>
          <p:cNvSpPr>
            <a:spLocks xmlns:a="http://schemas.openxmlformats.org/drawingml/2006/main" noGrp="1"/>
          </p:cNvSpPr>
          <p:nvPr/>
        </p:nvSpPr>
        <p:spPr>
          <a:xfrm xmlns:a="http://schemas.openxmlformats.org/drawingml/2006/main">
            <a:off x="609600" y="391477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C615A"/>
                </a:solidFill>
                <a:latin typeface="Arial"/>
                <a:ea typeface="Arial"/>
                <a:cs typeface="Arial"/>
              </a:defRPr>
            </a:pPr>
            <a:r>
              <a:rPr sz="2550" b="1">
                <a:solidFill>
                  <a:srgbClr val="0C615A"/>
                </a:solidFill>
                <a:latin typeface="Arial"/>
                <a:ea typeface="Arial"/>
                <a:cs typeface="Arial"/>
              </a:rPr>
              <a:t>A realistic response rhythm</a:t>
            </a:r>
          </a:p>
        </p:txBody>
      </p:sp>
      <p:sp>
        <p:nvSpPr>
          <p:cNvPr id="8" name="">
            <a:extLst xmlns:a="http://schemas.openxmlformats.org/drawingml/2006/main">
              <a:ext uri="{FF2B5EF4-FFF2-40B4-BE49-F238E27FC236}">
                <a16:creationId xmlns:a16="http://schemas.microsoft.com/office/drawing/2014/main" id="{102313A3-8C4C-46A0-BEE8-BBDCCEC7896E}"/>
              </a:ext>
            </a:extLst>
          </p:cNvPr>
          <p:cNvSpPr>
            <a:spLocks xmlns:a="http://schemas.openxmlformats.org/drawingml/2006/main" noGrp="1"/>
          </p:cNvSpPr>
          <p:nvPr/>
        </p:nvSpPr>
        <p:spPr>
          <a:xfrm xmlns:a="http://schemas.openxmlformats.org/drawingml/2006/main">
            <a:off x="609600" y="45529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91C"/>
                </a:solidFill>
                <a:latin typeface="Arial"/>
                <a:ea typeface="Arial"/>
                <a:cs typeface="Arial"/>
              </a:defRPr>
            </a:pPr>
            <a:r>
              <a:rPr sz="2025" b="0">
                <a:solidFill>
                  <a:srgbClr val="17191C"/>
                </a:solidFill>
                <a:latin typeface="Arial"/>
                <a:ea typeface="Arial"/>
                <a:cs typeface="Arial"/>
              </a:rPr>
              <a:t>Agree when replies happen and how that work is paid.</a:t>
            </a:r>
          </a:p>
        </p:txBody>
      </p:sp>
      <p:sp>
        <p:nvSpPr>
          <p:cNvPr id="9" name="">
            <a:extLst xmlns:a="http://schemas.openxmlformats.org/drawingml/2006/main">
              <a:ext uri="{FF2B5EF4-FFF2-40B4-BE49-F238E27FC236}">
                <a16:creationId xmlns:a16="http://schemas.microsoft.com/office/drawing/2014/main" id="{4499705C-92C5-4350-B57A-C04894A7B3D8}"/>
              </a:ext>
            </a:extLst>
          </p:cNvPr>
          <p:cNvSpPr>
            <a:spLocks xmlns:a="http://schemas.openxmlformats.org/drawingml/2006/main" noGrp="1"/>
          </p:cNvSpPr>
          <p:nvPr/>
        </p:nvSpPr>
        <p:spPr>
          <a:xfrm xmlns:a="http://schemas.openxmlformats.org/drawingml/2006/main">
            <a:off x="609600" y="5572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Measure coach minutes and useful follow-ups during the pilot.</a:t>
            </a:r>
          </a:p>
        </p:txBody>
      </p:sp>
    </p:spTree>
    <p:extLst>
      <p:ext uri="{BB962C8B-B14F-4D97-AF65-F5344CB8AC3E}">
        <p14:creationId xmlns:p14="http://schemas.microsoft.com/office/powerpoint/2010/main" val="436207707"/>
      </p:ext>
    </p:extLst>
  </p:cSld>
</p:sld>
</file>

<file path=ppt/slides/slide1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4CF311A-4405-4EDA-B592-4845564CD6AD}"/>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TRUST / PILOT REQUIREMENTS</a:t>
            </a:r>
          </a:p>
        </p:txBody>
      </p:sp>
      <p:sp>
        <p:nvSpPr>
          <p:cNvPr id="2" name="">
            <a:extLst xmlns:a="http://schemas.openxmlformats.org/drawingml/2006/main">
              <a:ext uri="{FF2B5EF4-FFF2-40B4-BE49-F238E27FC236}">
                <a16:creationId xmlns:a16="http://schemas.microsoft.com/office/drawing/2014/main" id="{772C81B7-DB8B-47DF-A27E-9A67914DFA93}"/>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Members choose. Coaches stay accountable.</a:t>
            </a:r>
          </a:p>
        </p:txBody>
      </p:sp>
      <p:sp>
        <p:nvSpPr>
          <p:cNvPr id="3" name="">
            <a:extLst xmlns:a="http://schemas.openxmlformats.org/drawingml/2006/main">
              <a:ext uri="{FF2B5EF4-FFF2-40B4-BE49-F238E27FC236}">
                <a16:creationId xmlns:a16="http://schemas.microsoft.com/office/drawing/2014/main" id="{07489392-15DB-41FD-B294-667127C64A69}"/>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CORNERWORK  /  FOUNDING GYM CONVERSATION</a:t>
            </a:r>
          </a:p>
        </p:txBody>
      </p:sp>
      <p:sp>
        <p:nvSpPr>
          <p:cNvPr id="4" name="">
            <a:extLst xmlns:a="http://schemas.openxmlformats.org/drawingml/2006/main">
              <a:ext uri="{FF2B5EF4-FFF2-40B4-BE49-F238E27FC236}">
                <a16:creationId xmlns:a16="http://schemas.microsoft.com/office/drawing/2014/main" id="{C57FB620-B1F0-45D1-9A1D-608488524DB6}"/>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D68D026A-C30F-4D6D-A0D8-48674A5C89C4}"/>
              </a:ext>
            </a:extLst>
          </p:cNvPr>
          <p:cNvSpPr>
            <a:spLocks xmlns:a="http://schemas.openxmlformats.org/drawingml/2006/main" noGrp="1"/>
          </p:cNvSpPr>
          <p:nvPr/>
        </p:nvSpPr>
        <p:spPr>
          <a:xfrm xmlns:a="http://schemas.openxmlformats.org/drawingml/2006/main">
            <a:off x="609600" y="23717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C615A"/>
                </a:solidFill>
                <a:latin typeface="Arial"/>
                <a:ea typeface="Arial"/>
                <a:cs typeface="Arial"/>
              </a:defRPr>
            </a:pPr>
            <a:r>
              <a:rPr sz="2550" b="1">
                <a:solidFill>
                  <a:srgbClr val="0C615A"/>
                </a:solidFill>
                <a:latin typeface="Arial"/>
                <a:ea typeface="Arial"/>
                <a:cs typeface="Arial"/>
              </a:rPr>
              <a:t>Opt in, and leave easily.</a:t>
            </a:r>
          </a:p>
        </p:txBody>
      </p:sp>
      <p:sp>
        <p:nvSpPr>
          <p:cNvPr id="6" name="">
            <a:extLst xmlns:a="http://schemas.openxmlformats.org/drawingml/2006/main">
              <a:ext uri="{FF2B5EF4-FFF2-40B4-BE49-F238E27FC236}">
                <a16:creationId xmlns:a16="http://schemas.microsoft.com/office/drawing/2014/main" id="{A9ACDF6D-70DF-4143-8CC0-4B3386E0A749}"/>
              </a:ext>
            </a:extLst>
          </p:cNvPr>
          <p:cNvSpPr>
            <a:spLocks xmlns:a="http://schemas.openxmlformats.org/drawingml/2006/main" noGrp="1"/>
          </p:cNvSpPr>
          <p:nvPr/>
        </p:nvSpPr>
        <p:spPr>
          <a:xfrm xmlns:a="http://schemas.openxmlformats.org/drawingml/2006/main">
            <a:off x="609600" y="29527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191C"/>
                </a:solidFill>
                <a:latin typeface="Arial"/>
                <a:ea typeface="Arial"/>
                <a:cs typeface="Arial"/>
              </a:defRPr>
            </a:pPr>
            <a:r>
              <a:rPr sz="1950" b="0">
                <a:solidFill>
                  <a:srgbClr val="17191C"/>
                </a:solidFill>
                <a:latin typeface="Arial"/>
                <a:ea typeface="Arial"/>
                <a:cs typeface="Arial"/>
              </a:rPr>
              <a:t>Begin with consenting adults and reliable opt-out handling.</a:t>
            </a:r>
          </a:p>
        </p:txBody>
      </p:sp>
      <p:sp>
        <p:nvSpPr>
          <p:cNvPr id="7" name="">
            <a:extLst xmlns:a="http://schemas.openxmlformats.org/drawingml/2006/main">
              <a:ext uri="{FF2B5EF4-FFF2-40B4-BE49-F238E27FC236}">
                <a16:creationId xmlns:a16="http://schemas.microsoft.com/office/drawing/2014/main" id="{DFFCCF81-EB1A-414E-A402-207BBD1019D0}"/>
              </a:ext>
            </a:extLst>
          </p:cNvPr>
          <p:cNvSpPr>
            <a:spLocks xmlns:a="http://schemas.openxmlformats.org/drawingml/2006/main" noGrp="1"/>
          </p:cNvSpPr>
          <p:nvPr/>
        </p:nvSpPr>
        <p:spPr>
          <a:xfrm xmlns:a="http://schemas.openxmlformats.org/drawingml/2006/main">
            <a:off x="609600" y="38481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C615A"/>
                </a:solidFill>
                <a:latin typeface="Arial"/>
                <a:ea typeface="Arial"/>
                <a:cs typeface="Arial"/>
              </a:defRPr>
            </a:pPr>
            <a:r>
              <a:rPr sz="2550" b="1">
                <a:solidFill>
                  <a:srgbClr val="0C615A"/>
                </a:solidFill>
                <a:latin typeface="Arial"/>
                <a:ea typeface="Arial"/>
                <a:cs typeface="Arial"/>
              </a:rPr>
              <a:t>Human review of advice.</a:t>
            </a:r>
          </a:p>
        </p:txBody>
      </p:sp>
      <p:sp>
        <p:nvSpPr>
          <p:cNvPr id="8" name="">
            <a:extLst xmlns:a="http://schemas.openxmlformats.org/drawingml/2006/main">
              <a:ext uri="{FF2B5EF4-FFF2-40B4-BE49-F238E27FC236}">
                <a16:creationId xmlns:a16="http://schemas.microsoft.com/office/drawing/2014/main" id="{800A4645-1F90-4A29-B65A-725E760C9BD9}"/>
              </a:ext>
            </a:extLst>
          </p:cNvPr>
          <p:cNvSpPr>
            <a:spLocks xmlns:a="http://schemas.openxmlformats.org/drawingml/2006/main" noGrp="1"/>
          </p:cNvSpPr>
          <p:nvPr/>
        </p:nvSpPr>
        <p:spPr>
          <a:xfrm xmlns:a="http://schemas.openxmlformats.org/drawingml/2006/main">
            <a:off x="609600" y="44291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191C"/>
                </a:solidFill>
                <a:latin typeface="Arial"/>
                <a:ea typeface="Arial"/>
                <a:cs typeface="Arial"/>
              </a:defRPr>
            </a:pPr>
            <a:r>
              <a:rPr sz="1950" b="0">
                <a:solidFill>
                  <a:srgbClr val="17191C"/>
                </a:solidFill>
                <a:latin typeface="Arial"/>
                <a:ea typeface="Arial"/>
                <a:cs typeface="Arial"/>
              </a:rPr>
              <a:t>Read the original message; raise concerns without diagnosing.</a:t>
            </a:r>
          </a:p>
        </p:txBody>
      </p:sp>
      <p:sp>
        <p:nvSpPr>
          <p:cNvPr id="9" name="">
            <a:extLst xmlns:a="http://schemas.openxmlformats.org/drawingml/2006/main">
              <a:ext uri="{FF2B5EF4-FFF2-40B4-BE49-F238E27FC236}">
                <a16:creationId xmlns:a16="http://schemas.microsoft.com/office/drawing/2014/main" id="{6A2D1A21-2E8B-4D0D-953B-6E54BF0845B3}"/>
              </a:ext>
            </a:extLst>
          </p:cNvPr>
          <p:cNvSpPr>
            <a:spLocks xmlns:a="http://schemas.openxmlformats.org/drawingml/2006/main" noGrp="1"/>
          </p:cNvSpPr>
          <p:nvPr/>
        </p:nvSpPr>
        <p:spPr>
          <a:xfrm xmlns:a="http://schemas.openxmlformats.org/drawingml/2006/main">
            <a:off x="609600" y="55149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Before going live: staff permissions, privacy rules and data controls.</a:t>
            </a:r>
          </a:p>
        </p:txBody>
      </p:sp>
    </p:spTree>
    <p:extLst>
      <p:ext uri="{BB962C8B-B14F-4D97-AF65-F5344CB8AC3E}">
        <p14:creationId xmlns:p14="http://schemas.microsoft.com/office/powerpoint/2010/main" val="1773644668"/>
      </p:ext>
    </p:extLst>
  </p:cSld>
</p:sld>
</file>

<file path=ppt/slides/slide16.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4B3AB4-B334-4FE5-9A2D-FED03AF620B0}"/>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1D0C4"/>
                </a:solidFill>
                <a:latin typeface="Arial"/>
                <a:ea typeface="Arial"/>
                <a:cs typeface="Arial"/>
              </a:defRPr>
            </a:pPr>
            <a:r>
              <a:rPr sz="1125" b="1">
                <a:solidFill>
                  <a:srgbClr val="91D0C4"/>
                </a:solidFill>
                <a:latin typeface="Arial"/>
                <a:ea typeface="Arial"/>
                <a:cs typeface="Arial"/>
              </a:rPr>
              <a:t>CORNERWORK  /  WHO’S BUILDING IT</a:t>
            </a:r>
          </a:p>
        </p:txBody>
      </p:sp>
      <p:sp>
        <p:nvSpPr>
          <p:cNvPr id="2" name="">
            <a:extLst xmlns:a="http://schemas.openxmlformats.org/drawingml/2006/main">
              <a:ext uri="{FF2B5EF4-FFF2-40B4-BE49-F238E27FC236}">
                <a16:creationId xmlns:a16="http://schemas.microsoft.com/office/drawing/2014/main" id="{BB681FD4-81A8-4F10-B102-AFE7AFB28B04}"/>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4F1E9"/>
                </a:solidFill>
                <a:latin typeface="Arial"/>
                <a:ea typeface="Arial"/>
                <a:cs typeface="Arial"/>
              </a:defRPr>
            </a:pPr>
            <a:r>
              <a:rPr sz="3600" b="1">
                <a:solidFill>
                  <a:srgbClr val="F4F1E9"/>
                </a:solidFill>
                <a:latin typeface="Arial"/>
                <a:ea typeface="Arial"/>
                <a:cs typeface="Arial"/>
              </a:rPr>
              <a:t>A fighter who writes software.</a:t>
            </a:r>
          </a:p>
        </p:txBody>
      </p:sp>
      <p:sp>
        <p:nvSpPr>
          <p:cNvPr id="3" name="">
            <a:extLst xmlns:a="http://schemas.openxmlformats.org/drawingml/2006/main">
              <a:ext uri="{FF2B5EF4-FFF2-40B4-BE49-F238E27FC236}">
                <a16:creationId xmlns:a16="http://schemas.microsoft.com/office/drawing/2014/main" id="{536E7CC3-A857-4493-8664-D2A8D3994509}"/>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1D0C4"/>
                </a:solidFill>
                <a:latin typeface="Arial"/>
                <a:ea typeface="Arial"/>
                <a:cs typeface="Arial"/>
              </a:defRPr>
            </a:pPr>
            <a:r>
              <a:rPr sz="900" b="0">
                <a:solidFill>
                  <a:srgbClr val="91D0C4"/>
                </a:solidFill>
                <a:latin typeface="Arial"/>
                <a:ea typeface="Arial"/>
                <a:cs typeface="Arial"/>
              </a:rPr>
              <a:t>CORNERWORK  /  FOUNDING GYM CONVERSATION</a:t>
            </a:r>
          </a:p>
        </p:txBody>
      </p:sp>
      <p:sp>
        <p:nvSpPr>
          <p:cNvPr id="4" name="">
            <a:extLst xmlns:a="http://schemas.openxmlformats.org/drawingml/2006/main">
              <a:ext uri="{FF2B5EF4-FFF2-40B4-BE49-F238E27FC236}">
                <a16:creationId xmlns:a16="http://schemas.microsoft.com/office/drawing/2014/main" id="{6E4C244E-D6EC-437C-8752-D942614EA209}"/>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1D0C4"/>
                </a:solidFill>
                <a:latin typeface="Arial"/>
                <a:ea typeface="Arial"/>
                <a:cs typeface="Arial"/>
              </a:defRPr>
            </a:pPr>
            <a:r>
              <a:rPr sz="1050" b="0">
                <a:solidFill>
                  <a:srgbClr val="91D0C4"/>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0D1A4907-11C8-404A-9616-CD971CA098C3}"/>
              </a:ext>
            </a:extLst>
          </p:cNvPr>
          <p:cNvSpPr>
            <a:spLocks xmlns:a="http://schemas.openxmlformats.org/drawingml/2006/main" noGrp="1"/>
          </p:cNvSpPr>
          <p:nvPr/>
        </p:nvSpPr>
        <p:spPr>
          <a:xfrm xmlns:a="http://schemas.openxmlformats.org/drawingml/2006/main">
            <a:off x="609600" y="25336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91D0C4"/>
                </a:solidFill>
                <a:latin typeface="Arial"/>
                <a:ea typeface="Arial"/>
                <a:cs typeface="Arial"/>
              </a:defRPr>
            </a:pPr>
            <a:r>
              <a:rPr sz="2775" b="1">
                <a:solidFill>
                  <a:srgbClr val="91D0C4"/>
                </a:solidFill>
                <a:latin typeface="Arial"/>
                <a:ea typeface="Arial"/>
                <a:cs typeface="Arial"/>
              </a:rPr>
              <a:t>Muay Thai competitor · 9–1–1</a:t>
            </a:r>
          </a:p>
        </p:txBody>
      </p:sp>
      <p:sp>
        <p:nvSpPr>
          <p:cNvPr id="6" name="">
            <a:extLst xmlns:a="http://schemas.openxmlformats.org/drawingml/2006/main">
              <a:ext uri="{FF2B5EF4-FFF2-40B4-BE49-F238E27FC236}">
                <a16:creationId xmlns:a16="http://schemas.microsoft.com/office/drawing/2014/main" id="{6E142EEA-B54A-4116-81BA-EA5E5D54E62A}"/>
              </a:ext>
            </a:extLst>
          </p:cNvPr>
          <p:cNvSpPr>
            <a:spLocks xmlns:a="http://schemas.openxmlformats.org/drawingml/2006/main" noGrp="1"/>
          </p:cNvSpPr>
          <p:nvPr/>
        </p:nvSpPr>
        <p:spPr>
          <a:xfrm xmlns:a="http://schemas.openxmlformats.org/drawingml/2006/main">
            <a:off x="609600" y="3371850"/>
            <a:ext cx="10858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4F1E9"/>
                </a:solidFill>
                <a:latin typeface="Arial"/>
                <a:ea typeface="Arial"/>
                <a:cs typeface="Arial"/>
              </a:defRPr>
            </a:pPr>
            <a:r>
              <a:rPr sz="2325" b="0">
                <a:solidFill>
                  <a:srgbClr val="F4F1E9"/>
                </a:solidFill>
                <a:latin typeface="Arial"/>
                <a:ea typeface="Arial"/>
                <a:cs typeface="Arial"/>
              </a:rPr>
              <a:t>Around ten years in Muay Thai, BJJ and wrestling.</a:t>
            </a:r>
          </a:p>
        </p:txBody>
      </p:sp>
      <p:sp>
        <p:nvSpPr>
          <p:cNvPr id="7" name="">
            <a:extLst xmlns:a="http://schemas.openxmlformats.org/drawingml/2006/main">
              <a:ext uri="{FF2B5EF4-FFF2-40B4-BE49-F238E27FC236}">
                <a16:creationId xmlns:a16="http://schemas.microsoft.com/office/drawing/2014/main" id="{E063FF78-F400-4025-9605-1EE13D29EFC9}"/>
              </a:ext>
            </a:extLst>
          </p:cNvPr>
          <p:cNvSpPr>
            <a:spLocks xmlns:a="http://schemas.openxmlformats.org/drawingml/2006/main" noGrp="1"/>
          </p:cNvSpPr>
          <p:nvPr/>
        </p:nvSpPr>
        <p:spPr>
          <a:xfrm xmlns:a="http://schemas.openxmlformats.org/drawingml/2006/main">
            <a:off x="609600" y="4362450"/>
            <a:ext cx="10858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4F1E9"/>
                </a:solidFill>
                <a:latin typeface="Arial"/>
                <a:ea typeface="Arial"/>
                <a:cs typeface="Arial"/>
              </a:defRPr>
            </a:pPr>
            <a:r>
              <a:rPr sz="2325" b="0">
                <a:solidFill>
                  <a:srgbClr val="F4F1E9"/>
                </a:solidFill>
                <a:latin typeface="Arial"/>
                <a:ea typeface="Arial"/>
                <a:cs typeface="Arial"/>
              </a:rPr>
              <a:t>Senior software engineer working with AI and data systems.</a:t>
            </a:r>
          </a:p>
        </p:txBody>
      </p:sp>
      <p:sp>
        <p:nvSpPr>
          <p:cNvPr id="8" name="">
            <a:extLst xmlns:a="http://schemas.openxmlformats.org/drawingml/2006/main">
              <a:ext uri="{FF2B5EF4-FFF2-40B4-BE49-F238E27FC236}">
                <a16:creationId xmlns:a16="http://schemas.microsoft.com/office/drawing/2014/main" id="{E33B9BFA-DEC7-40A0-ADAF-2E1937862A14}"/>
              </a:ext>
            </a:extLst>
          </p:cNvPr>
          <p:cNvSpPr>
            <a:spLocks xmlns:a="http://schemas.openxmlformats.org/drawingml/2006/main" noGrp="1"/>
          </p:cNvSpPr>
          <p:nvPr/>
        </p:nvSpPr>
        <p:spPr>
          <a:xfrm xmlns:a="http://schemas.openxmlformats.org/drawingml/2006/main">
            <a:off x="609600" y="5667375"/>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91D0C4"/>
                </a:solidFill>
                <a:latin typeface="Arial"/>
                <a:ea typeface="Arial"/>
                <a:cs typeface="Arial"/>
              </a:defRPr>
            </a:pPr>
            <a:r>
              <a:rPr sz="1875" b="0">
                <a:solidFill>
                  <a:srgbClr val="91D0C4"/>
                </a:solidFill>
                <a:latin typeface="Arial"/>
                <a:ea typeface="Arial"/>
                <a:cs typeface="Arial"/>
              </a:rPr>
              <a:t>Built from training experience. Refined with working coaches.</a:t>
            </a:r>
          </a:p>
        </p:txBody>
      </p:sp>
    </p:spTree>
    <p:extLst>
      <p:ext uri="{BB962C8B-B14F-4D97-AF65-F5344CB8AC3E}">
        <p14:creationId xmlns:p14="http://schemas.microsoft.com/office/powerpoint/2010/main" val="2143861692"/>
      </p:ext>
    </p:extLst>
  </p:cSld>
</p:sld>
</file>

<file path=ppt/slides/slide17.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9255A37-DC06-445A-8A47-BAC4CC6031DF}"/>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FOUNDING GYM PILOT</a:t>
            </a:r>
          </a:p>
        </p:txBody>
      </p:sp>
      <p:sp>
        <p:nvSpPr>
          <p:cNvPr id="2" name="">
            <a:extLst xmlns:a="http://schemas.openxmlformats.org/drawingml/2006/main">
              <a:ext uri="{FF2B5EF4-FFF2-40B4-BE49-F238E27FC236}">
                <a16:creationId xmlns:a16="http://schemas.microsoft.com/office/drawing/2014/main" id="{64B8C9A8-9F9D-48F1-8ACC-CF9B9376E51C}"/>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Start small. Measure whether it helps.</a:t>
            </a:r>
          </a:p>
        </p:txBody>
      </p:sp>
      <p:sp>
        <p:nvSpPr>
          <p:cNvPr id="3" name="">
            <a:extLst xmlns:a="http://schemas.openxmlformats.org/drawingml/2006/main">
              <a:ext uri="{FF2B5EF4-FFF2-40B4-BE49-F238E27FC236}">
                <a16:creationId xmlns:a16="http://schemas.microsoft.com/office/drawing/2014/main" id="{0CDC3334-F7BE-47C2-A4F6-F42EED06F261}"/>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CORNERWORK  /  FOUNDING GYM CONVERSATION</a:t>
            </a:r>
          </a:p>
        </p:txBody>
      </p:sp>
      <p:sp>
        <p:nvSpPr>
          <p:cNvPr id="4" name="">
            <a:extLst xmlns:a="http://schemas.openxmlformats.org/drawingml/2006/main">
              <a:ext uri="{FF2B5EF4-FFF2-40B4-BE49-F238E27FC236}">
                <a16:creationId xmlns:a16="http://schemas.microsoft.com/office/drawing/2014/main" id="{DFA2B857-2008-4180-917D-3FF42018351A}"/>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56B8E3C6-2CE3-4013-B4CC-DA35F08B9851}"/>
              </a:ext>
            </a:extLst>
          </p:cNvPr>
          <p:cNvSpPr>
            <a:spLocks xmlns:a="http://schemas.openxmlformats.org/drawingml/2006/main" noGrp="1"/>
          </p:cNvSpPr>
          <p:nvPr/>
        </p:nvSpPr>
        <p:spPr>
          <a:xfrm xmlns:a="http://schemas.openxmlformats.org/drawingml/2006/main">
            <a:off x="609600" y="2371725"/>
            <a:ext cx="5000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C615A"/>
                </a:solidFill>
                <a:latin typeface="Arial"/>
                <a:ea typeface="Arial"/>
                <a:cs typeface="Arial"/>
              </a:defRPr>
            </a:pPr>
            <a:r>
              <a:rPr sz="1425" b="1">
                <a:solidFill>
                  <a:srgbClr val="0C615A"/>
                </a:solidFill>
                <a:latin typeface="Arial"/>
                <a:ea typeface="Arial"/>
                <a:cs typeface="Arial"/>
              </a:rPr>
              <a:t>START WITH</a:t>
            </a:r>
          </a:p>
        </p:txBody>
      </p:sp>
      <p:sp>
        <p:nvSpPr>
          <p:cNvPr id="6" name="">
            <a:extLst xmlns:a="http://schemas.openxmlformats.org/drawingml/2006/main">
              <a:ext uri="{FF2B5EF4-FFF2-40B4-BE49-F238E27FC236}">
                <a16:creationId xmlns:a16="http://schemas.microsoft.com/office/drawing/2014/main" id="{736B7CD3-7677-48E9-BF71-5712192AAB54}"/>
              </a:ext>
            </a:extLst>
          </p:cNvPr>
          <p:cNvSpPr>
            <a:spLocks xmlns:a="http://schemas.openxmlformats.org/drawingml/2006/main" noGrp="1"/>
          </p:cNvSpPr>
          <p:nvPr/>
        </p:nvSpPr>
        <p:spPr>
          <a:xfrm xmlns:a="http://schemas.openxmlformats.org/drawingml/2006/main">
            <a:off x="609600" y="2981325"/>
            <a:ext cx="51054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One responsible coach</a:t>
            </a:r>
          </a:p>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A small adult member group</a:t>
            </a:r>
          </a:p>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One verified booking connection</a:t>
            </a:r>
          </a:p>
        </p:txBody>
      </p:sp>
      <p:sp>
        <p:nvSpPr>
          <p:cNvPr id="7" name="">
            <a:extLst xmlns:a="http://schemas.openxmlformats.org/drawingml/2006/main">
              <a:ext uri="{FF2B5EF4-FFF2-40B4-BE49-F238E27FC236}">
                <a16:creationId xmlns:a16="http://schemas.microsoft.com/office/drawing/2014/main" id="{7F2BA1CA-B881-40BC-822B-212B47B4D46D}"/>
              </a:ext>
            </a:extLst>
          </p:cNvPr>
          <p:cNvSpPr>
            <a:spLocks xmlns:a="http://schemas.openxmlformats.org/drawingml/2006/main" noGrp="1"/>
          </p:cNvSpPr>
          <p:nvPr/>
        </p:nvSpPr>
        <p:spPr>
          <a:xfrm xmlns:a="http://schemas.openxmlformats.org/drawingml/2006/main">
            <a:off x="6515100" y="2371725"/>
            <a:ext cx="5067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C615A"/>
                </a:solidFill>
                <a:latin typeface="Arial"/>
                <a:ea typeface="Arial"/>
                <a:cs typeface="Arial"/>
              </a:defRPr>
            </a:pPr>
            <a:r>
              <a:rPr sz="1425" b="1">
                <a:solidFill>
                  <a:srgbClr val="0C615A"/>
                </a:solidFill>
                <a:latin typeface="Arial"/>
                <a:ea typeface="Arial"/>
                <a:cs typeface="Arial"/>
              </a:rPr>
              <a:t>LOOK FOR</a:t>
            </a:r>
          </a:p>
        </p:txBody>
      </p:sp>
      <p:sp>
        <p:nvSpPr>
          <p:cNvPr id="8" name="">
            <a:extLst xmlns:a="http://schemas.openxmlformats.org/drawingml/2006/main">
              <a:ext uri="{FF2B5EF4-FFF2-40B4-BE49-F238E27FC236}">
                <a16:creationId xmlns:a16="http://schemas.microsoft.com/office/drawing/2014/main" id="{591B8811-A4D9-48AE-99E4-D227F9E885E5}"/>
              </a:ext>
            </a:extLst>
          </p:cNvPr>
          <p:cNvSpPr>
            <a:spLocks xmlns:a="http://schemas.openxmlformats.org/drawingml/2006/main" noGrp="1"/>
          </p:cNvSpPr>
          <p:nvPr/>
        </p:nvSpPr>
        <p:spPr>
          <a:xfrm xmlns:a="http://schemas.openxmlformats.org/drawingml/2006/main">
            <a:off x="6515100" y="2981325"/>
            <a:ext cx="50673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Members sharing useful feedback</a:t>
            </a:r>
          </a:p>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Coaches following up</a:t>
            </a:r>
          </a:p>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Willingness to keep paying</a:t>
            </a:r>
          </a:p>
        </p:txBody>
      </p:sp>
      <p:sp>
        <p:nvSpPr>
          <p:cNvPr id="9" name="">
            <a:extLst xmlns:a="http://schemas.openxmlformats.org/drawingml/2006/main">
              <a:ext uri="{FF2B5EF4-FFF2-40B4-BE49-F238E27FC236}">
                <a16:creationId xmlns:a16="http://schemas.microsoft.com/office/drawing/2014/main" id="{E365338A-1458-41D7-BB65-B198900675DD}"/>
              </a:ext>
            </a:extLst>
          </p:cNvPr>
          <p:cNvSpPr>
            <a:spLocks xmlns:a="http://schemas.openxmlformats.org/drawingml/2006/main" noGrp="1"/>
          </p:cNvSpPr>
          <p:nvPr/>
        </p:nvSpPr>
        <p:spPr>
          <a:xfrm xmlns:a="http://schemas.openxmlformats.org/drawingml/2006/main">
            <a:off x="609600" y="54959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C615A"/>
                </a:solidFill>
                <a:latin typeface="Arial"/>
                <a:ea typeface="Arial"/>
                <a:cs typeface="Arial"/>
              </a:defRPr>
            </a:pPr>
            <a:r>
              <a:rPr sz="1950" b="1">
                <a:solidFill>
                  <a:srgbClr val="0C615A"/>
                </a:solidFill>
                <a:latin typeface="Arial"/>
                <a:ea typeface="Arial"/>
                <a:cs typeface="Arial"/>
              </a:rPr>
              <a:t>Agree the offer and service cadence together before a live pilot.</a:t>
            </a:r>
          </a:p>
        </p:txBody>
      </p:sp>
    </p:spTree>
    <p:extLst>
      <p:ext uri="{BB962C8B-B14F-4D97-AF65-F5344CB8AC3E}">
        <p14:creationId xmlns:p14="http://schemas.microsoft.com/office/powerpoint/2010/main" val="26779772"/>
      </p:ext>
    </p:extLst>
  </p:cSld>
</p:sld>
</file>

<file path=ppt/slides/slide18.xml><?xml version="1.0" encoding="utf-8"?>
<p:sld xmlns:p="http://schemas.openxmlformats.org/presentationml/2006/main">
  <p:cSld>
    <p:bg>
      <p:bgPr>
        <a:solidFill xmlns:a="http://schemas.openxmlformats.org/drawingml/2006/main">
          <a:srgbClr val="0C615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181E4CE-EB16-4C84-AE8B-865D392C59EF}"/>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1D0C4"/>
                </a:solidFill>
                <a:latin typeface="Arial"/>
                <a:ea typeface="Arial"/>
                <a:cs typeface="Arial"/>
              </a:defRPr>
            </a:pPr>
            <a:r>
              <a:rPr sz="1125" b="1">
                <a:solidFill>
                  <a:srgbClr val="91D0C4"/>
                </a:solidFill>
                <a:latin typeface="Arial"/>
                <a:ea typeface="Arial"/>
                <a:cs typeface="Arial"/>
              </a:rPr>
              <a:t>CORNERWORK  /  THE CONVERSATION</a:t>
            </a:r>
          </a:p>
        </p:txBody>
      </p:sp>
      <p:sp>
        <p:nvSpPr>
          <p:cNvPr id="2" name="">
            <a:extLst xmlns:a="http://schemas.openxmlformats.org/drawingml/2006/main">
              <a:ext uri="{FF2B5EF4-FFF2-40B4-BE49-F238E27FC236}">
                <a16:creationId xmlns:a16="http://schemas.microsoft.com/office/drawing/2014/main" id="{F47105AB-FDA6-4CCD-AD12-A6B9B1E4735F}"/>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4F1E9"/>
                </a:solidFill>
                <a:latin typeface="Arial"/>
                <a:ea typeface="Arial"/>
                <a:cs typeface="Arial"/>
              </a:defRPr>
            </a:pPr>
            <a:r>
              <a:rPr sz="3600" b="1">
                <a:solidFill>
                  <a:srgbClr val="F4F1E9"/>
                </a:solidFill>
                <a:latin typeface="Arial"/>
                <a:ea typeface="Arial"/>
                <a:cs typeface="Arial"/>
              </a:rPr>
              <a:t>Would your coaches use this next week?</a:t>
            </a:r>
          </a:p>
        </p:txBody>
      </p:sp>
      <p:sp>
        <p:nvSpPr>
          <p:cNvPr id="3" name="">
            <a:extLst xmlns:a="http://schemas.openxmlformats.org/drawingml/2006/main">
              <a:ext uri="{FF2B5EF4-FFF2-40B4-BE49-F238E27FC236}">
                <a16:creationId xmlns:a16="http://schemas.microsoft.com/office/drawing/2014/main" id="{488687AD-D34F-4518-8829-03BC9EE379FA}"/>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1D0C4"/>
                </a:solidFill>
                <a:latin typeface="Arial"/>
                <a:ea typeface="Arial"/>
                <a:cs typeface="Arial"/>
              </a:defRPr>
            </a:pPr>
            <a:r>
              <a:rPr sz="900" b="0">
                <a:solidFill>
                  <a:srgbClr val="91D0C4"/>
                </a:solidFill>
                <a:latin typeface="Arial"/>
                <a:ea typeface="Arial"/>
                <a:cs typeface="Arial"/>
              </a:rPr>
              <a:t>CORNERWORK  /  FOUNDING GYM CONVERSATION</a:t>
            </a:r>
          </a:p>
        </p:txBody>
      </p:sp>
      <p:sp>
        <p:nvSpPr>
          <p:cNvPr id="4" name="">
            <a:extLst xmlns:a="http://schemas.openxmlformats.org/drawingml/2006/main">
              <a:ext uri="{FF2B5EF4-FFF2-40B4-BE49-F238E27FC236}">
                <a16:creationId xmlns:a16="http://schemas.microsoft.com/office/drawing/2014/main" id="{3650E344-0ED2-4AC3-B37F-B6121ABD6CEB}"/>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1D0C4"/>
                </a:solidFill>
                <a:latin typeface="Arial"/>
                <a:ea typeface="Arial"/>
                <a:cs typeface="Arial"/>
              </a:defRPr>
            </a:pPr>
            <a:r>
              <a:rPr sz="1050" b="0">
                <a:solidFill>
                  <a:srgbClr val="91D0C4"/>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03ED9E67-E274-4120-B0AD-A01DCEC1CB53}"/>
              </a:ext>
            </a:extLst>
          </p:cNvPr>
          <p:cNvSpPr>
            <a:spLocks xmlns:a="http://schemas.openxmlformats.org/drawingml/2006/main" noGrp="1"/>
          </p:cNvSpPr>
          <p:nvPr/>
        </p:nvSpPr>
        <p:spPr>
          <a:xfrm xmlns:a="http://schemas.openxmlformats.org/drawingml/2006/main">
            <a:off x="609600" y="259080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91D0C4"/>
                </a:solidFill>
                <a:latin typeface="Arial"/>
                <a:ea typeface="Arial"/>
                <a:cs typeface="Arial"/>
              </a:defRPr>
            </a:pPr>
            <a:r>
              <a:rPr sz="2625" b="1">
                <a:solidFill>
                  <a:srgbClr val="91D0C4"/>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B23E156-C547-49C2-9387-98C9A356CAA3}"/>
              </a:ext>
            </a:extLst>
          </p:cNvPr>
          <p:cNvSpPr>
            <a:spLocks xmlns:a="http://schemas.openxmlformats.org/drawingml/2006/main" noGrp="1"/>
          </p:cNvSpPr>
          <p:nvPr/>
        </p:nvSpPr>
        <p:spPr>
          <a:xfrm xmlns:a="http://schemas.openxmlformats.org/drawingml/2006/main">
            <a:off x="1581150" y="262890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4F1E9"/>
                </a:solidFill>
                <a:latin typeface="Arial"/>
                <a:ea typeface="Arial"/>
                <a:cs typeface="Arial"/>
              </a:defRPr>
            </a:pPr>
            <a:r>
              <a:rPr sz="2325" b="0">
                <a:solidFill>
                  <a:srgbClr val="F4F1E9"/>
                </a:solidFill>
                <a:latin typeface="Arial"/>
                <a:ea typeface="Arial"/>
                <a:cs typeface="Arial"/>
              </a:rPr>
              <a:t>How do questions get handled after class today?</a:t>
            </a:r>
          </a:p>
        </p:txBody>
      </p:sp>
      <p:sp>
        <p:nvSpPr>
          <p:cNvPr id="7" name="">
            <a:extLst xmlns:a="http://schemas.openxmlformats.org/drawingml/2006/main">
              <a:ext uri="{FF2B5EF4-FFF2-40B4-BE49-F238E27FC236}">
                <a16:creationId xmlns:a16="http://schemas.microsoft.com/office/drawing/2014/main" id="{416B3EB3-06F9-4C00-AC4D-DD1B9EC695A1}"/>
              </a:ext>
            </a:extLst>
          </p:cNvPr>
          <p:cNvSpPr>
            <a:spLocks xmlns:a="http://schemas.openxmlformats.org/drawingml/2006/main" noGrp="1"/>
          </p:cNvSpPr>
          <p:nvPr/>
        </p:nvSpPr>
        <p:spPr>
          <a:xfrm xmlns:a="http://schemas.openxmlformats.org/drawingml/2006/main">
            <a:off x="609600" y="358140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91D0C4"/>
                </a:solidFill>
                <a:latin typeface="Arial"/>
                <a:ea typeface="Arial"/>
                <a:cs typeface="Arial"/>
              </a:defRPr>
            </a:pPr>
            <a:r>
              <a:rPr sz="2625" b="1">
                <a:solidFill>
                  <a:srgbClr val="91D0C4"/>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59DBB9BF-CE78-4A11-A252-E362852EF432}"/>
              </a:ext>
            </a:extLst>
          </p:cNvPr>
          <p:cNvSpPr>
            <a:spLocks xmlns:a="http://schemas.openxmlformats.org/drawingml/2006/main" noGrp="1"/>
          </p:cNvSpPr>
          <p:nvPr/>
        </p:nvSpPr>
        <p:spPr>
          <a:xfrm xmlns:a="http://schemas.openxmlformats.org/drawingml/2006/main">
            <a:off x="1581150" y="361950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4F1E9"/>
                </a:solidFill>
                <a:latin typeface="Arial"/>
                <a:ea typeface="Arial"/>
                <a:cs typeface="Arial"/>
              </a:defRPr>
            </a:pPr>
            <a:r>
              <a:rPr sz="2325" b="0">
                <a:solidFill>
                  <a:srgbClr val="F4F1E9"/>
                </a:solidFill>
                <a:latin typeface="Arial"/>
                <a:ea typeface="Arial"/>
                <a:cs typeface="Arial"/>
              </a:rPr>
              <a:t>Which coach would own the queue?</a:t>
            </a:r>
          </a:p>
        </p:txBody>
      </p:sp>
      <p:sp>
        <p:nvSpPr>
          <p:cNvPr id="9" name="">
            <a:extLst xmlns:a="http://schemas.openxmlformats.org/drawingml/2006/main">
              <a:ext uri="{FF2B5EF4-FFF2-40B4-BE49-F238E27FC236}">
                <a16:creationId xmlns:a16="http://schemas.microsoft.com/office/drawing/2014/main" id="{BCAF0F50-FF5C-4E1D-86C5-0D6A33666AB6}"/>
              </a:ext>
            </a:extLst>
          </p:cNvPr>
          <p:cNvSpPr>
            <a:spLocks xmlns:a="http://schemas.openxmlformats.org/drawingml/2006/main" noGrp="1"/>
          </p:cNvSpPr>
          <p:nvPr/>
        </p:nvSpPr>
        <p:spPr>
          <a:xfrm xmlns:a="http://schemas.openxmlformats.org/drawingml/2006/main">
            <a:off x="609600" y="457200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91D0C4"/>
                </a:solidFill>
                <a:latin typeface="Arial"/>
                <a:ea typeface="Arial"/>
                <a:cs typeface="Arial"/>
              </a:defRPr>
            </a:pPr>
            <a:r>
              <a:rPr sz="2625" b="1">
                <a:solidFill>
                  <a:srgbClr val="91D0C4"/>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94C4E955-892C-4EE5-BD12-34FFDE9838FF}"/>
              </a:ext>
            </a:extLst>
          </p:cNvPr>
          <p:cNvSpPr>
            <a:spLocks xmlns:a="http://schemas.openxmlformats.org/drawingml/2006/main" noGrp="1"/>
          </p:cNvSpPr>
          <p:nvPr/>
        </p:nvSpPr>
        <p:spPr>
          <a:xfrm xmlns:a="http://schemas.openxmlformats.org/drawingml/2006/main">
            <a:off x="1581150" y="4610100"/>
            <a:ext cx="981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4F1E9"/>
                </a:solidFill>
                <a:latin typeface="Arial"/>
                <a:ea typeface="Arial"/>
                <a:cs typeface="Arial"/>
              </a:defRPr>
            </a:pPr>
            <a:r>
              <a:rPr sz="2325" b="0">
                <a:solidFill>
                  <a:srgbClr val="F4F1E9"/>
                </a:solidFill>
                <a:latin typeface="Arial"/>
                <a:ea typeface="Arial"/>
                <a:cs typeface="Arial"/>
              </a:rPr>
              <a:t>What would make a short pilot worth paying for?</a:t>
            </a:r>
          </a:p>
        </p:txBody>
      </p:sp>
    </p:spTree>
    <p:extLst>
      <p:ext uri="{BB962C8B-B14F-4D97-AF65-F5344CB8AC3E}">
        <p14:creationId xmlns:p14="http://schemas.microsoft.com/office/powerpoint/2010/main" val="19064333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2026-09-28T14:33:28.9590000Z</dcterms:created>
  <dcterms:modified xsi:type="dcterms:W3CDTF">2026-09-28T14:33:28.9590000Z</dcterms:modified>
</coreProperties>
</file>